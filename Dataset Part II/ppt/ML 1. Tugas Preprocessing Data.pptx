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swald Bold" charset="1" panose="00000800000000000000"/>
      <p:regular r:id="rId16"/>
    </p:embeddedFont>
    <p:embeddedFont>
      <p:font typeface="Poppins" charset="1" panose="00000500000000000000"/>
      <p:regular r:id="rId17"/>
    </p:embeddedFont>
    <p:embeddedFont>
      <p:font typeface="Oswald" charset="1" panose="00000500000000000000"/>
      <p:regular r:id="rId18"/>
    </p:embeddedFont>
    <p:embeddedFont>
      <p:font typeface="Poppins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jpeg" Type="http://schemas.openxmlformats.org/officeDocument/2006/relationships/image"/><Relationship Id="rId11" Target="../media/image12.jpeg" Type="http://schemas.openxmlformats.org/officeDocument/2006/relationships/image"/><Relationship Id="rId12" Target="../media/image13.jpeg" Type="http://schemas.openxmlformats.org/officeDocument/2006/relationships/image"/><Relationship Id="rId13" Target="../media/image14.jpeg" Type="http://schemas.openxmlformats.org/officeDocument/2006/relationships/image"/><Relationship Id="rId14" Target="../media/image15.jpe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jpeg" Type="http://schemas.openxmlformats.org/officeDocument/2006/relationships/image"/><Relationship Id="rId6" Target="../media/image7.jpeg" Type="http://schemas.openxmlformats.org/officeDocument/2006/relationships/image"/><Relationship Id="rId7" Target="../media/image8.jpeg" Type="http://schemas.openxmlformats.org/officeDocument/2006/relationships/image"/><Relationship Id="rId8" Target="../media/image9.jpeg" Type="http://schemas.openxmlformats.org/officeDocument/2006/relationships/image"/><Relationship Id="rId9"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github.com/akhmadCh/Machine-Learning-I/tree/main/Dataset%20License%20Plate"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ln w="19050" cap="rnd">
              <a:solidFill>
                <a:srgbClr val="CD4146"/>
              </a:solidFill>
              <a:prstDash val="solid"/>
              <a:round/>
            </a:ln>
          </p:spPr>
        </p:sp>
        <p:sp>
          <p:nvSpPr>
            <p:cNvPr name="TextBox 5" id="5"/>
            <p:cNvSpPr txBox="true"/>
            <p:nvPr/>
          </p:nvSpPr>
          <p:spPr>
            <a:xfrm>
              <a:off x="0" y="-57150"/>
              <a:ext cx="4274726" cy="2224617"/>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9495491" y="1210179"/>
            <a:ext cx="7763809" cy="7650469"/>
          </a:xfrm>
          <a:custGeom>
            <a:avLst/>
            <a:gdLst/>
            <a:ahLst/>
            <a:cxnLst/>
            <a:rect r="r" b="b" t="t" l="l"/>
            <a:pathLst>
              <a:path h="7650469" w="7763809">
                <a:moveTo>
                  <a:pt x="0" y="0"/>
                </a:moveTo>
                <a:lnTo>
                  <a:pt x="7763809" y="0"/>
                </a:lnTo>
                <a:lnTo>
                  <a:pt x="7763809" y="7650469"/>
                </a:lnTo>
                <a:lnTo>
                  <a:pt x="0" y="7650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418346" y="2546981"/>
            <a:ext cx="4321642" cy="6189852"/>
          </a:xfrm>
          <a:custGeom>
            <a:avLst/>
            <a:gdLst/>
            <a:ahLst/>
            <a:cxnLst/>
            <a:rect r="r" b="b" t="t" l="l"/>
            <a:pathLst>
              <a:path h="6189852" w="4321642">
                <a:moveTo>
                  <a:pt x="0" y="0"/>
                </a:moveTo>
                <a:lnTo>
                  <a:pt x="4321642" y="0"/>
                </a:lnTo>
                <a:lnTo>
                  <a:pt x="4321642" y="6189852"/>
                </a:lnTo>
                <a:lnTo>
                  <a:pt x="0" y="61898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943279" y="2780483"/>
            <a:ext cx="9475067" cy="2593041"/>
          </a:xfrm>
          <a:prstGeom prst="rect">
            <a:avLst/>
          </a:prstGeom>
        </p:spPr>
        <p:txBody>
          <a:bodyPr anchor="t" rtlCol="false" tIns="0" lIns="0" bIns="0" rIns="0">
            <a:spAutoFit/>
          </a:bodyPr>
          <a:lstStyle/>
          <a:p>
            <a:pPr algn="l" marL="0" indent="0" lvl="0">
              <a:lnSpc>
                <a:spcPts val="10058"/>
              </a:lnSpc>
            </a:pPr>
            <a:r>
              <a:rPr lang="en-US" b="true" sz="9579">
                <a:solidFill>
                  <a:srgbClr val="CD4146"/>
                </a:solidFill>
                <a:latin typeface="Oswald Bold"/>
                <a:ea typeface="Oswald Bold"/>
                <a:cs typeface="Oswald Bold"/>
                <a:sym typeface="Oswald Bold"/>
              </a:rPr>
              <a:t>MACHINE LEARNING I</a:t>
            </a:r>
          </a:p>
        </p:txBody>
      </p:sp>
      <p:sp>
        <p:nvSpPr>
          <p:cNvPr name="TextBox 9" id="9"/>
          <p:cNvSpPr txBox="true"/>
          <p:nvPr/>
        </p:nvSpPr>
        <p:spPr>
          <a:xfrm rot="0">
            <a:off x="1943279" y="6189273"/>
            <a:ext cx="9100628" cy="1430186"/>
          </a:xfrm>
          <a:prstGeom prst="rect">
            <a:avLst/>
          </a:prstGeom>
        </p:spPr>
        <p:txBody>
          <a:bodyPr anchor="t" rtlCol="false" tIns="0" lIns="0" bIns="0" rIns="0">
            <a:spAutoFit/>
          </a:bodyPr>
          <a:lstStyle/>
          <a:p>
            <a:pPr algn="l">
              <a:lnSpc>
                <a:spcPts val="5653"/>
              </a:lnSpc>
            </a:pPr>
            <a:r>
              <a:rPr lang="en-US" sz="4038">
                <a:solidFill>
                  <a:srgbClr val="CD4146"/>
                </a:solidFill>
                <a:latin typeface="Poppins"/>
                <a:ea typeface="Poppins"/>
                <a:cs typeface="Poppins"/>
                <a:sym typeface="Poppins"/>
              </a:rPr>
              <a:t>Dataset Klasifikasi Plat Nomor Kendaraan Kabupaten Balangan</a:t>
            </a:r>
          </a:p>
        </p:txBody>
      </p:sp>
      <p:sp>
        <p:nvSpPr>
          <p:cNvPr name="TextBox 10" id="10"/>
          <p:cNvSpPr txBox="true"/>
          <p:nvPr/>
        </p:nvSpPr>
        <p:spPr>
          <a:xfrm rot="0">
            <a:off x="1943279" y="8062300"/>
            <a:ext cx="7805031" cy="441325"/>
          </a:xfrm>
          <a:prstGeom prst="rect">
            <a:avLst/>
          </a:prstGeom>
        </p:spPr>
        <p:txBody>
          <a:bodyPr anchor="t" rtlCol="false" tIns="0" lIns="0" bIns="0" rIns="0">
            <a:spAutoFit/>
          </a:bodyPr>
          <a:lstStyle/>
          <a:p>
            <a:pPr algn="l">
              <a:lnSpc>
                <a:spcPts val="3499"/>
              </a:lnSpc>
            </a:pPr>
            <a:r>
              <a:rPr lang="en-US" sz="2499">
                <a:solidFill>
                  <a:srgbClr val="CD4146"/>
                </a:solidFill>
                <a:latin typeface="Poppins"/>
                <a:ea typeface="Poppins"/>
                <a:cs typeface="Poppins"/>
                <a:sym typeface="Poppins"/>
              </a:rPr>
              <a:t>Akhmad Chaidar Ananda</a:t>
            </a:r>
          </a:p>
        </p:txBody>
      </p:sp>
      <p:sp>
        <p:nvSpPr>
          <p:cNvPr name="TextBox 11" id="11"/>
          <p:cNvSpPr txBox="true"/>
          <p:nvPr/>
        </p:nvSpPr>
        <p:spPr>
          <a:xfrm rot="0">
            <a:off x="1943279" y="8482833"/>
            <a:ext cx="7805031" cy="441325"/>
          </a:xfrm>
          <a:prstGeom prst="rect">
            <a:avLst/>
          </a:prstGeom>
        </p:spPr>
        <p:txBody>
          <a:bodyPr anchor="t" rtlCol="false" tIns="0" lIns="0" bIns="0" rIns="0">
            <a:spAutoFit/>
          </a:bodyPr>
          <a:lstStyle/>
          <a:p>
            <a:pPr algn="l">
              <a:lnSpc>
                <a:spcPts val="3499"/>
              </a:lnSpc>
            </a:pPr>
            <a:r>
              <a:rPr lang="en-US" sz="2499">
                <a:solidFill>
                  <a:srgbClr val="CD4146"/>
                </a:solidFill>
                <a:latin typeface="Poppins"/>
                <a:ea typeface="Poppins"/>
                <a:cs typeface="Poppins"/>
                <a:sym typeface="Poppins"/>
              </a:rPr>
              <a:t>2310817110015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551487" y="7961893"/>
            <a:ext cx="5415627" cy="5336567"/>
          </a:xfrm>
          <a:custGeom>
            <a:avLst/>
            <a:gdLst/>
            <a:ahLst/>
            <a:cxnLst/>
            <a:rect r="r" b="b" t="t" l="l"/>
            <a:pathLst>
              <a:path h="5336567" w="5415627">
                <a:moveTo>
                  <a:pt x="0" y="0"/>
                </a:moveTo>
                <a:lnTo>
                  <a:pt x="5415626" y="0"/>
                </a:lnTo>
                <a:lnTo>
                  <a:pt x="5415626" y="5336567"/>
                </a:lnTo>
                <a:lnTo>
                  <a:pt x="0" y="53365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flipV="true">
            <a:off x="9144000" y="2668283"/>
            <a:ext cx="0" cy="6432038"/>
          </a:xfrm>
          <a:prstGeom prst="line">
            <a:avLst/>
          </a:prstGeom>
          <a:ln cap="flat" w="19050">
            <a:solidFill>
              <a:srgbClr val="CD4146"/>
            </a:solidFill>
            <a:prstDash val="solid"/>
            <a:headEnd type="none" len="sm" w="sm"/>
            <a:tailEnd type="none" len="sm" w="sm"/>
          </a:ln>
        </p:spPr>
      </p:sp>
      <p:sp>
        <p:nvSpPr>
          <p:cNvPr name="Freeform 5" id="5"/>
          <p:cNvSpPr/>
          <p:nvPr/>
        </p:nvSpPr>
        <p:spPr>
          <a:xfrm flipH="false" flipV="false" rot="0">
            <a:off x="-2639035" y="-2668283"/>
            <a:ext cx="5415627" cy="5336567"/>
          </a:xfrm>
          <a:custGeom>
            <a:avLst/>
            <a:gdLst/>
            <a:ahLst/>
            <a:cxnLst/>
            <a:rect r="r" b="b" t="t" l="l"/>
            <a:pathLst>
              <a:path h="5336567" w="5415627">
                <a:moveTo>
                  <a:pt x="0" y="0"/>
                </a:moveTo>
                <a:lnTo>
                  <a:pt x="5415626" y="0"/>
                </a:lnTo>
                <a:lnTo>
                  <a:pt x="5415626" y="5336566"/>
                </a:lnTo>
                <a:lnTo>
                  <a:pt x="0" y="5336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4286024" y="-133350"/>
            <a:ext cx="9696902" cy="1157569"/>
          </a:xfrm>
          <a:prstGeom prst="rect">
            <a:avLst/>
          </a:prstGeom>
        </p:spPr>
        <p:txBody>
          <a:bodyPr anchor="t" rtlCol="false" tIns="0" lIns="0" bIns="0" rIns="0">
            <a:spAutoFit/>
          </a:bodyPr>
          <a:lstStyle/>
          <a:p>
            <a:pPr algn="ctr">
              <a:lnSpc>
                <a:spcPts val="9545"/>
              </a:lnSpc>
            </a:pPr>
            <a:r>
              <a:rPr lang="en-US" sz="6818">
                <a:solidFill>
                  <a:srgbClr val="CD4146"/>
                </a:solidFill>
                <a:latin typeface="Oswald"/>
                <a:ea typeface="Oswald"/>
                <a:cs typeface="Oswald"/>
                <a:sym typeface="Oswald"/>
              </a:rPr>
              <a:t>Definisi Kelas</a:t>
            </a:r>
          </a:p>
        </p:txBody>
      </p:sp>
      <p:sp>
        <p:nvSpPr>
          <p:cNvPr name="TextBox 7" id="7"/>
          <p:cNvSpPr txBox="true"/>
          <p:nvPr/>
        </p:nvSpPr>
        <p:spPr>
          <a:xfrm rot="0">
            <a:off x="1791839" y="1636666"/>
            <a:ext cx="7352161" cy="635000"/>
          </a:xfrm>
          <a:prstGeom prst="rect">
            <a:avLst/>
          </a:prstGeom>
        </p:spPr>
        <p:txBody>
          <a:bodyPr anchor="t" rtlCol="false" tIns="0" lIns="0" bIns="0" rIns="0">
            <a:spAutoFit/>
          </a:bodyPr>
          <a:lstStyle/>
          <a:p>
            <a:pPr algn="ctr">
              <a:lnSpc>
                <a:spcPts val="4900"/>
              </a:lnSpc>
            </a:pPr>
            <a:r>
              <a:rPr lang="en-US" sz="3500" b="true">
                <a:solidFill>
                  <a:srgbClr val="CD4146"/>
                </a:solidFill>
                <a:latin typeface="Poppins Bold"/>
                <a:ea typeface="Poppins Bold"/>
                <a:cs typeface="Poppins Bold"/>
                <a:sym typeface="Poppins Bold"/>
              </a:rPr>
              <a:t>Plat Dinas (Merah)</a:t>
            </a:r>
          </a:p>
        </p:txBody>
      </p:sp>
      <p:sp>
        <p:nvSpPr>
          <p:cNvPr name="TextBox 8" id="8"/>
          <p:cNvSpPr txBox="true"/>
          <p:nvPr/>
        </p:nvSpPr>
        <p:spPr>
          <a:xfrm rot="0">
            <a:off x="9626779" y="1698947"/>
            <a:ext cx="7195822" cy="635000"/>
          </a:xfrm>
          <a:prstGeom prst="rect">
            <a:avLst/>
          </a:prstGeom>
        </p:spPr>
        <p:txBody>
          <a:bodyPr anchor="t" rtlCol="false" tIns="0" lIns="0" bIns="0" rIns="0">
            <a:spAutoFit/>
          </a:bodyPr>
          <a:lstStyle/>
          <a:p>
            <a:pPr algn="ctr">
              <a:lnSpc>
                <a:spcPts val="4900"/>
              </a:lnSpc>
            </a:pPr>
            <a:r>
              <a:rPr lang="en-US" sz="3500" b="true">
                <a:solidFill>
                  <a:srgbClr val="CD4146"/>
                </a:solidFill>
                <a:latin typeface="Poppins Bold"/>
                <a:ea typeface="Poppins Bold"/>
                <a:cs typeface="Poppins Bold"/>
                <a:sym typeface="Poppins Bold"/>
              </a:rPr>
              <a:t>Plat Non-Dinas (Hitam/Putih)</a:t>
            </a:r>
          </a:p>
        </p:txBody>
      </p:sp>
      <p:sp>
        <p:nvSpPr>
          <p:cNvPr name="TextBox 9" id="9"/>
          <p:cNvSpPr txBox="true"/>
          <p:nvPr/>
        </p:nvSpPr>
        <p:spPr>
          <a:xfrm rot="0">
            <a:off x="1791839" y="3027725"/>
            <a:ext cx="6514557" cy="481012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CD4146"/>
                </a:solidFill>
                <a:latin typeface="Poppins"/>
                <a:ea typeface="Poppins"/>
                <a:cs typeface="Poppins"/>
                <a:sym typeface="Poppins"/>
              </a:rPr>
              <a:t>Plat nomor dengan latar belakang warna merah</a:t>
            </a:r>
          </a:p>
          <a:p>
            <a:pPr algn="l" marL="647700" indent="-323850" lvl="1">
              <a:lnSpc>
                <a:spcPts val="4200"/>
              </a:lnSpc>
              <a:buFont typeface="Arial"/>
              <a:buChar char="•"/>
            </a:pPr>
            <a:r>
              <a:rPr lang="en-US" sz="3000">
                <a:solidFill>
                  <a:srgbClr val="CD4146"/>
                </a:solidFill>
                <a:latin typeface="Poppins"/>
                <a:ea typeface="Poppins"/>
                <a:cs typeface="Poppins"/>
                <a:sym typeface="Poppins"/>
              </a:rPr>
              <a:t>Kendaraan khusus untuk instansi pemerintah</a:t>
            </a:r>
          </a:p>
          <a:p>
            <a:pPr algn="l" marL="647700" indent="-323850" lvl="1">
              <a:lnSpc>
                <a:spcPts val="4200"/>
              </a:lnSpc>
              <a:buFont typeface="Arial"/>
              <a:buChar char="•"/>
            </a:pPr>
            <a:r>
              <a:rPr lang="en-US" sz="3000">
                <a:solidFill>
                  <a:srgbClr val="CD4146"/>
                </a:solidFill>
                <a:latin typeface="Poppins"/>
                <a:ea typeface="Poppins"/>
                <a:cs typeface="Poppins"/>
                <a:sym typeface="Poppins"/>
              </a:rPr>
              <a:t>Teks dalam plat berwarna putih</a:t>
            </a:r>
          </a:p>
          <a:p>
            <a:pPr algn="l" marL="647700" indent="-323850" lvl="1">
              <a:lnSpc>
                <a:spcPts val="4200"/>
              </a:lnSpc>
              <a:buFont typeface="Arial"/>
              <a:buChar char="•"/>
            </a:pPr>
            <a:r>
              <a:rPr lang="en-US" sz="3000">
                <a:solidFill>
                  <a:srgbClr val="CD4146"/>
                </a:solidFill>
                <a:latin typeface="Poppins"/>
                <a:ea typeface="Poppins"/>
                <a:cs typeface="Poppins"/>
                <a:sym typeface="Poppins"/>
              </a:rPr>
              <a:t>Kendaraan operasional dinas</a:t>
            </a:r>
          </a:p>
          <a:p>
            <a:pPr algn="l" marL="647700" indent="-323850" lvl="1">
              <a:lnSpc>
                <a:spcPts val="4200"/>
              </a:lnSpc>
              <a:buFont typeface="Arial"/>
              <a:buChar char="•"/>
            </a:pPr>
            <a:r>
              <a:rPr lang="en-US" sz="3000">
                <a:solidFill>
                  <a:srgbClr val="CD4146"/>
                </a:solidFill>
                <a:latin typeface="Poppins"/>
                <a:ea typeface="Poppins"/>
                <a:cs typeface="Poppins"/>
                <a:sym typeface="Poppins"/>
              </a:rPr>
              <a:t>Ciri utama adalah warna dasar merah yang dominan</a:t>
            </a:r>
          </a:p>
        </p:txBody>
      </p:sp>
      <p:sp>
        <p:nvSpPr>
          <p:cNvPr name="TextBox 10" id="10"/>
          <p:cNvSpPr txBox="true"/>
          <p:nvPr/>
        </p:nvSpPr>
        <p:spPr>
          <a:xfrm rot="0">
            <a:off x="10308044" y="3027725"/>
            <a:ext cx="6514557" cy="481012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CD4146"/>
                </a:solidFill>
                <a:latin typeface="Poppins"/>
                <a:ea typeface="Poppins"/>
                <a:cs typeface="Poppins"/>
                <a:sym typeface="Poppins"/>
              </a:rPr>
              <a:t>Plat nomor dengan latar belakang dua warna (Hitam/Putih)</a:t>
            </a:r>
          </a:p>
          <a:p>
            <a:pPr algn="l" marL="647700" indent="-323850" lvl="1">
              <a:lnSpc>
                <a:spcPts val="4200"/>
              </a:lnSpc>
              <a:buFont typeface="Arial"/>
              <a:buChar char="•"/>
            </a:pPr>
            <a:r>
              <a:rPr lang="en-US" sz="3000">
                <a:solidFill>
                  <a:srgbClr val="CD4146"/>
                </a:solidFill>
                <a:latin typeface="Poppins"/>
                <a:ea typeface="Poppins"/>
                <a:cs typeface="Poppins"/>
                <a:sym typeface="Poppins"/>
              </a:rPr>
              <a:t>Kendaraan pribadi atau umum</a:t>
            </a:r>
          </a:p>
          <a:p>
            <a:pPr algn="l" marL="647700" indent="-323850" lvl="1">
              <a:lnSpc>
                <a:spcPts val="4200"/>
              </a:lnSpc>
              <a:buFont typeface="Arial"/>
              <a:buChar char="•"/>
            </a:pPr>
            <a:r>
              <a:rPr lang="en-US" sz="3000">
                <a:solidFill>
                  <a:srgbClr val="CD4146"/>
                </a:solidFill>
                <a:latin typeface="Poppins"/>
                <a:ea typeface="Poppins"/>
                <a:cs typeface="Poppins"/>
                <a:sym typeface="Poppins"/>
              </a:rPr>
              <a:t>Plat memiliki teks putih atau teks hitam</a:t>
            </a:r>
          </a:p>
          <a:p>
            <a:pPr algn="l" marL="647700" indent="-323850" lvl="1">
              <a:lnSpc>
                <a:spcPts val="4200"/>
              </a:lnSpc>
              <a:buFont typeface="Arial"/>
              <a:buChar char="•"/>
            </a:pPr>
            <a:r>
              <a:rPr lang="en-US" sz="3000">
                <a:solidFill>
                  <a:srgbClr val="CD4146"/>
                </a:solidFill>
                <a:latin typeface="Poppins"/>
                <a:ea typeface="Poppins"/>
                <a:cs typeface="Poppins"/>
                <a:sym typeface="Poppins"/>
              </a:rPr>
              <a:t>Ciri utama adalah berwarna selain daripada merah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755055" y="8752444"/>
            <a:ext cx="5415627" cy="5336567"/>
          </a:xfrm>
          <a:custGeom>
            <a:avLst/>
            <a:gdLst/>
            <a:ahLst/>
            <a:cxnLst/>
            <a:rect r="r" b="b" t="t" l="l"/>
            <a:pathLst>
              <a:path h="5336567" w="5415627">
                <a:moveTo>
                  <a:pt x="0" y="0"/>
                </a:moveTo>
                <a:lnTo>
                  <a:pt x="5415627" y="0"/>
                </a:lnTo>
                <a:lnTo>
                  <a:pt x="5415627" y="5336566"/>
                </a:lnTo>
                <a:lnTo>
                  <a:pt x="0" y="5336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727599" y="-3532845"/>
            <a:ext cx="5415627" cy="5336567"/>
          </a:xfrm>
          <a:custGeom>
            <a:avLst/>
            <a:gdLst/>
            <a:ahLst/>
            <a:cxnLst/>
            <a:rect r="r" b="b" t="t" l="l"/>
            <a:pathLst>
              <a:path h="5336567" w="5415627">
                <a:moveTo>
                  <a:pt x="0" y="0"/>
                </a:moveTo>
                <a:lnTo>
                  <a:pt x="5415626" y="0"/>
                </a:lnTo>
                <a:lnTo>
                  <a:pt x="5415626" y="5336567"/>
                </a:lnTo>
                <a:lnTo>
                  <a:pt x="0" y="53365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44503" y="3097906"/>
            <a:ext cx="2269366" cy="2269366"/>
          </a:xfrm>
          <a:custGeom>
            <a:avLst/>
            <a:gdLst/>
            <a:ahLst/>
            <a:cxnLst/>
            <a:rect r="r" b="b" t="t" l="l"/>
            <a:pathLst>
              <a:path h="2269366" w="2269366">
                <a:moveTo>
                  <a:pt x="0" y="0"/>
                </a:moveTo>
                <a:lnTo>
                  <a:pt x="2269367" y="0"/>
                </a:lnTo>
                <a:lnTo>
                  <a:pt x="2269367" y="2269366"/>
                </a:lnTo>
                <a:lnTo>
                  <a:pt x="0" y="2269366"/>
                </a:lnTo>
                <a:lnTo>
                  <a:pt x="0" y="0"/>
                </a:lnTo>
                <a:close/>
              </a:path>
            </a:pathLst>
          </a:custGeom>
          <a:blipFill>
            <a:blip r:embed="rId5"/>
            <a:stretch>
              <a:fillRect l="0" t="0" r="0" b="0"/>
            </a:stretch>
          </a:blipFill>
        </p:spPr>
      </p:sp>
      <p:sp>
        <p:nvSpPr>
          <p:cNvPr name="Freeform 6" id="6"/>
          <p:cNvSpPr/>
          <p:nvPr/>
        </p:nvSpPr>
        <p:spPr>
          <a:xfrm flipH="false" flipV="false" rot="0">
            <a:off x="6647596" y="3097906"/>
            <a:ext cx="2367865" cy="2367865"/>
          </a:xfrm>
          <a:custGeom>
            <a:avLst/>
            <a:gdLst/>
            <a:ahLst/>
            <a:cxnLst/>
            <a:rect r="r" b="b" t="t" l="l"/>
            <a:pathLst>
              <a:path h="2367865" w="2367865">
                <a:moveTo>
                  <a:pt x="0" y="0"/>
                </a:moveTo>
                <a:lnTo>
                  <a:pt x="2367865" y="0"/>
                </a:lnTo>
                <a:lnTo>
                  <a:pt x="2367865" y="2367865"/>
                </a:lnTo>
                <a:lnTo>
                  <a:pt x="0" y="2367865"/>
                </a:lnTo>
                <a:lnTo>
                  <a:pt x="0" y="0"/>
                </a:lnTo>
                <a:close/>
              </a:path>
            </a:pathLst>
          </a:custGeom>
          <a:blipFill>
            <a:blip r:embed="rId6"/>
            <a:stretch>
              <a:fillRect l="0" t="0" r="0" b="0"/>
            </a:stretch>
          </a:blipFill>
        </p:spPr>
      </p:sp>
      <p:sp>
        <p:nvSpPr>
          <p:cNvPr name="Freeform 7" id="7"/>
          <p:cNvSpPr/>
          <p:nvPr/>
        </p:nvSpPr>
        <p:spPr>
          <a:xfrm flipH="false" flipV="false" rot="0">
            <a:off x="3944953" y="3041134"/>
            <a:ext cx="2424637" cy="2424637"/>
          </a:xfrm>
          <a:custGeom>
            <a:avLst/>
            <a:gdLst/>
            <a:ahLst/>
            <a:cxnLst/>
            <a:rect r="r" b="b" t="t" l="l"/>
            <a:pathLst>
              <a:path h="2424637" w="2424637">
                <a:moveTo>
                  <a:pt x="0" y="0"/>
                </a:moveTo>
                <a:lnTo>
                  <a:pt x="2424637" y="0"/>
                </a:lnTo>
                <a:lnTo>
                  <a:pt x="2424637" y="2424637"/>
                </a:lnTo>
                <a:lnTo>
                  <a:pt x="0" y="2424637"/>
                </a:lnTo>
                <a:lnTo>
                  <a:pt x="0" y="0"/>
                </a:lnTo>
                <a:close/>
              </a:path>
            </a:pathLst>
          </a:custGeom>
          <a:blipFill>
            <a:blip r:embed="rId7"/>
            <a:stretch>
              <a:fillRect l="0" t="0" r="0" b="0"/>
            </a:stretch>
          </a:blipFill>
        </p:spPr>
      </p:sp>
      <p:sp>
        <p:nvSpPr>
          <p:cNvPr name="Freeform 8" id="8"/>
          <p:cNvSpPr/>
          <p:nvPr/>
        </p:nvSpPr>
        <p:spPr>
          <a:xfrm flipH="false" flipV="false" rot="0">
            <a:off x="1688027" y="5971710"/>
            <a:ext cx="3128611" cy="3128611"/>
          </a:xfrm>
          <a:custGeom>
            <a:avLst/>
            <a:gdLst/>
            <a:ahLst/>
            <a:cxnLst/>
            <a:rect r="r" b="b" t="t" l="l"/>
            <a:pathLst>
              <a:path h="3128611" w="3128611">
                <a:moveTo>
                  <a:pt x="0" y="0"/>
                </a:moveTo>
                <a:lnTo>
                  <a:pt x="3128612" y="0"/>
                </a:lnTo>
                <a:lnTo>
                  <a:pt x="3128612" y="3128612"/>
                </a:lnTo>
                <a:lnTo>
                  <a:pt x="0" y="3128612"/>
                </a:lnTo>
                <a:lnTo>
                  <a:pt x="0" y="0"/>
                </a:lnTo>
                <a:close/>
              </a:path>
            </a:pathLst>
          </a:custGeom>
          <a:blipFill>
            <a:blip r:embed="rId8"/>
            <a:stretch>
              <a:fillRect l="0" t="0" r="0" b="0"/>
            </a:stretch>
          </a:blipFill>
        </p:spPr>
      </p:sp>
      <p:sp>
        <p:nvSpPr>
          <p:cNvPr name="Freeform 9" id="9"/>
          <p:cNvSpPr/>
          <p:nvPr/>
        </p:nvSpPr>
        <p:spPr>
          <a:xfrm flipH="false" flipV="false" rot="0">
            <a:off x="9626779" y="2927512"/>
            <a:ext cx="2475217" cy="2475217"/>
          </a:xfrm>
          <a:custGeom>
            <a:avLst/>
            <a:gdLst/>
            <a:ahLst/>
            <a:cxnLst/>
            <a:rect r="r" b="b" t="t" l="l"/>
            <a:pathLst>
              <a:path h="2475217" w="2475217">
                <a:moveTo>
                  <a:pt x="0" y="0"/>
                </a:moveTo>
                <a:lnTo>
                  <a:pt x="2475217" y="0"/>
                </a:lnTo>
                <a:lnTo>
                  <a:pt x="2475217" y="2475217"/>
                </a:lnTo>
                <a:lnTo>
                  <a:pt x="0" y="2475217"/>
                </a:lnTo>
                <a:lnTo>
                  <a:pt x="0" y="0"/>
                </a:lnTo>
                <a:close/>
              </a:path>
            </a:pathLst>
          </a:custGeom>
          <a:blipFill>
            <a:blip r:embed="rId9"/>
            <a:stretch>
              <a:fillRect l="0" t="0" r="0" b="0"/>
            </a:stretch>
          </a:blipFill>
        </p:spPr>
      </p:sp>
      <p:sp>
        <p:nvSpPr>
          <p:cNvPr name="Freeform 10" id="10"/>
          <p:cNvSpPr/>
          <p:nvPr/>
        </p:nvSpPr>
        <p:spPr>
          <a:xfrm flipH="false" flipV="false" rot="0">
            <a:off x="5405155" y="5959518"/>
            <a:ext cx="3182495" cy="3182495"/>
          </a:xfrm>
          <a:custGeom>
            <a:avLst/>
            <a:gdLst/>
            <a:ahLst/>
            <a:cxnLst/>
            <a:rect r="r" b="b" t="t" l="l"/>
            <a:pathLst>
              <a:path h="3182495" w="3182495">
                <a:moveTo>
                  <a:pt x="0" y="0"/>
                </a:moveTo>
                <a:lnTo>
                  <a:pt x="3182495" y="0"/>
                </a:lnTo>
                <a:lnTo>
                  <a:pt x="3182495" y="3182495"/>
                </a:lnTo>
                <a:lnTo>
                  <a:pt x="0" y="3182495"/>
                </a:lnTo>
                <a:lnTo>
                  <a:pt x="0" y="0"/>
                </a:lnTo>
                <a:close/>
              </a:path>
            </a:pathLst>
          </a:custGeom>
          <a:blipFill>
            <a:blip r:embed="rId10"/>
            <a:stretch>
              <a:fillRect l="0" t="0" r="0" b="0"/>
            </a:stretch>
          </a:blipFill>
        </p:spPr>
      </p:sp>
      <p:sp>
        <p:nvSpPr>
          <p:cNvPr name="Freeform 11" id="11"/>
          <p:cNvSpPr/>
          <p:nvPr/>
        </p:nvSpPr>
        <p:spPr>
          <a:xfrm flipH="false" flipV="false" rot="0">
            <a:off x="12621108" y="2927512"/>
            <a:ext cx="2387904" cy="2387904"/>
          </a:xfrm>
          <a:custGeom>
            <a:avLst/>
            <a:gdLst/>
            <a:ahLst/>
            <a:cxnLst/>
            <a:rect r="r" b="b" t="t" l="l"/>
            <a:pathLst>
              <a:path h="2387904" w="2387904">
                <a:moveTo>
                  <a:pt x="0" y="0"/>
                </a:moveTo>
                <a:lnTo>
                  <a:pt x="2387904" y="0"/>
                </a:lnTo>
                <a:lnTo>
                  <a:pt x="2387904" y="2387904"/>
                </a:lnTo>
                <a:lnTo>
                  <a:pt x="0" y="2387904"/>
                </a:lnTo>
                <a:lnTo>
                  <a:pt x="0" y="0"/>
                </a:lnTo>
                <a:close/>
              </a:path>
            </a:pathLst>
          </a:custGeom>
          <a:blipFill>
            <a:blip r:embed="rId11"/>
            <a:stretch>
              <a:fillRect l="0" t="0" r="0" b="0"/>
            </a:stretch>
          </a:blipFill>
        </p:spPr>
      </p:sp>
      <p:sp>
        <p:nvSpPr>
          <p:cNvPr name="Freeform 12" id="12"/>
          <p:cNvSpPr/>
          <p:nvPr/>
        </p:nvSpPr>
        <p:spPr>
          <a:xfrm flipH="false" flipV="false" rot="0">
            <a:off x="15528125" y="3039947"/>
            <a:ext cx="2250345" cy="2250345"/>
          </a:xfrm>
          <a:custGeom>
            <a:avLst/>
            <a:gdLst/>
            <a:ahLst/>
            <a:cxnLst/>
            <a:rect r="r" b="b" t="t" l="l"/>
            <a:pathLst>
              <a:path h="2250345" w="2250345">
                <a:moveTo>
                  <a:pt x="0" y="0"/>
                </a:moveTo>
                <a:lnTo>
                  <a:pt x="2250345" y="0"/>
                </a:lnTo>
                <a:lnTo>
                  <a:pt x="2250345" y="2250346"/>
                </a:lnTo>
                <a:lnTo>
                  <a:pt x="0" y="2250346"/>
                </a:lnTo>
                <a:lnTo>
                  <a:pt x="0" y="0"/>
                </a:lnTo>
                <a:close/>
              </a:path>
            </a:pathLst>
          </a:custGeom>
          <a:blipFill>
            <a:blip r:embed="rId12"/>
            <a:stretch>
              <a:fillRect l="0" t="0" r="0" b="0"/>
            </a:stretch>
          </a:blipFill>
        </p:spPr>
      </p:sp>
      <p:sp>
        <p:nvSpPr>
          <p:cNvPr name="Freeform 13" id="13"/>
          <p:cNvSpPr/>
          <p:nvPr/>
        </p:nvSpPr>
        <p:spPr>
          <a:xfrm flipH="false" flipV="false" rot="0">
            <a:off x="9880474" y="5835899"/>
            <a:ext cx="3811013" cy="2916545"/>
          </a:xfrm>
          <a:custGeom>
            <a:avLst/>
            <a:gdLst/>
            <a:ahLst/>
            <a:cxnLst/>
            <a:rect r="r" b="b" t="t" l="l"/>
            <a:pathLst>
              <a:path h="2916545" w="3811013">
                <a:moveTo>
                  <a:pt x="0" y="0"/>
                </a:moveTo>
                <a:lnTo>
                  <a:pt x="3811013" y="0"/>
                </a:lnTo>
                <a:lnTo>
                  <a:pt x="3811013" y="2916545"/>
                </a:lnTo>
                <a:lnTo>
                  <a:pt x="0" y="2916545"/>
                </a:lnTo>
                <a:lnTo>
                  <a:pt x="0" y="0"/>
                </a:lnTo>
                <a:close/>
              </a:path>
            </a:pathLst>
          </a:custGeom>
          <a:blipFill>
            <a:blip r:embed="rId13"/>
            <a:stretch>
              <a:fillRect l="0" t="-15334" r="0" b="-15334"/>
            </a:stretch>
          </a:blipFill>
        </p:spPr>
      </p:sp>
      <p:sp>
        <p:nvSpPr>
          <p:cNvPr name="Freeform 14" id="14"/>
          <p:cNvSpPr/>
          <p:nvPr/>
        </p:nvSpPr>
        <p:spPr>
          <a:xfrm flipH="false" flipV="false" rot="0">
            <a:off x="14563415" y="5905966"/>
            <a:ext cx="2846478" cy="2846478"/>
          </a:xfrm>
          <a:custGeom>
            <a:avLst/>
            <a:gdLst/>
            <a:ahLst/>
            <a:cxnLst/>
            <a:rect r="r" b="b" t="t" l="l"/>
            <a:pathLst>
              <a:path h="2846478" w="2846478">
                <a:moveTo>
                  <a:pt x="0" y="0"/>
                </a:moveTo>
                <a:lnTo>
                  <a:pt x="2846477" y="0"/>
                </a:lnTo>
                <a:lnTo>
                  <a:pt x="2846477" y="2846478"/>
                </a:lnTo>
                <a:lnTo>
                  <a:pt x="0" y="2846478"/>
                </a:lnTo>
                <a:lnTo>
                  <a:pt x="0" y="0"/>
                </a:lnTo>
                <a:close/>
              </a:path>
            </a:pathLst>
          </a:custGeom>
          <a:blipFill>
            <a:blip r:embed="rId14"/>
            <a:stretch>
              <a:fillRect l="0" t="0" r="0" b="0"/>
            </a:stretch>
          </a:blipFill>
        </p:spPr>
      </p:sp>
      <p:sp>
        <p:nvSpPr>
          <p:cNvPr name="TextBox 15" id="15"/>
          <p:cNvSpPr txBox="true"/>
          <p:nvPr/>
        </p:nvSpPr>
        <p:spPr>
          <a:xfrm rot="0">
            <a:off x="4170650" y="-133350"/>
            <a:ext cx="9946699" cy="1157569"/>
          </a:xfrm>
          <a:prstGeom prst="rect">
            <a:avLst/>
          </a:prstGeom>
        </p:spPr>
        <p:txBody>
          <a:bodyPr anchor="t" rtlCol="false" tIns="0" lIns="0" bIns="0" rIns="0">
            <a:spAutoFit/>
          </a:bodyPr>
          <a:lstStyle/>
          <a:p>
            <a:pPr algn="ctr">
              <a:lnSpc>
                <a:spcPts val="9545"/>
              </a:lnSpc>
            </a:pPr>
            <a:r>
              <a:rPr lang="en-US" sz="6818">
                <a:solidFill>
                  <a:srgbClr val="CD4146"/>
                </a:solidFill>
                <a:latin typeface="Oswald"/>
                <a:ea typeface="Oswald"/>
                <a:cs typeface="Oswald"/>
                <a:sym typeface="Oswald"/>
              </a:rPr>
              <a:t>Definisi Kelas (Contoh Gambar)</a:t>
            </a:r>
          </a:p>
        </p:txBody>
      </p:sp>
      <p:sp>
        <p:nvSpPr>
          <p:cNvPr name="TextBox 16" id="16"/>
          <p:cNvSpPr txBox="true"/>
          <p:nvPr/>
        </p:nvSpPr>
        <p:spPr>
          <a:xfrm rot="0">
            <a:off x="1481191" y="1636880"/>
            <a:ext cx="7352161" cy="635000"/>
          </a:xfrm>
          <a:prstGeom prst="rect">
            <a:avLst/>
          </a:prstGeom>
        </p:spPr>
        <p:txBody>
          <a:bodyPr anchor="t" rtlCol="false" tIns="0" lIns="0" bIns="0" rIns="0">
            <a:spAutoFit/>
          </a:bodyPr>
          <a:lstStyle/>
          <a:p>
            <a:pPr algn="ctr">
              <a:lnSpc>
                <a:spcPts val="4900"/>
              </a:lnSpc>
            </a:pPr>
            <a:r>
              <a:rPr lang="en-US" sz="3500" b="true">
                <a:solidFill>
                  <a:srgbClr val="CD4146"/>
                </a:solidFill>
                <a:latin typeface="Poppins Bold"/>
                <a:ea typeface="Poppins Bold"/>
                <a:cs typeface="Poppins Bold"/>
                <a:sym typeface="Poppins Bold"/>
              </a:rPr>
              <a:t>Plat Dinas (Merah)</a:t>
            </a:r>
          </a:p>
        </p:txBody>
      </p:sp>
      <p:sp>
        <p:nvSpPr>
          <p:cNvPr name="TextBox 17" id="17"/>
          <p:cNvSpPr txBox="true"/>
          <p:nvPr/>
        </p:nvSpPr>
        <p:spPr>
          <a:xfrm rot="0">
            <a:off x="9626779" y="1698947"/>
            <a:ext cx="7195822" cy="635000"/>
          </a:xfrm>
          <a:prstGeom prst="rect">
            <a:avLst/>
          </a:prstGeom>
        </p:spPr>
        <p:txBody>
          <a:bodyPr anchor="t" rtlCol="false" tIns="0" lIns="0" bIns="0" rIns="0">
            <a:spAutoFit/>
          </a:bodyPr>
          <a:lstStyle/>
          <a:p>
            <a:pPr algn="ctr">
              <a:lnSpc>
                <a:spcPts val="4900"/>
              </a:lnSpc>
            </a:pPr>
            <a:r>
              <a:rPr lang="en-US" sz="3500" b="true">
                <a:solidFill>
                  <a:srgbClr val="CD4146"/>
                </a:solidFill>
                <a:latin typeface="Poppins Bold"/>
                <a:ea typeface="Poppins Bold"/>
                <a:cs typeface="Poppins Bold"/>
                <a:sym typeface="Poppins Bold"/>
              </a:rPr>
              <a:t>Plat Non-Dinas (Hitam/Putih)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2444359" y="3391858"/>
          <a:ext cx="7586157" cy="4274588"/>
        </p:xfrm>
        <a:graphic>
          <a:graphicData uri="http://schemas.openxmlformats.org/presentationml/2006/ole">
            <p:oleObj imgW="9105900" imgH="579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4204294" y="7384"/>
            <a:ext cx="9879412" cy="1157569"/>
          </a:xfrm>
          <a:prstGeom prst="rect">
            <a:avLst/>
          </a:prstGeom>
        </p:spPr>
        <p:txBody>
          <a:bodyPr anchor="t" rtlCol="false" tIns="0" lIns="0" bIns="0" rIns="0">
            <a:spAutoFit/>
          </a:bodyPr>
          <a:lstStyle/>
          <a:p>
            <a:pPr algn="ctr">
              <a:lnSpc>
                <a:spcPts val="9545"/>
              </a:lnSpc>
            </a:pPr>
            <a:r>
              <a:rPr lang="en-US" sz="6818">
                <a:solidFill>
                  <a:srgbClr val="CD4146"/>
                </a:solidFill>
                <a:latin typeface="Oswald"/>
                <a:ea typeface="Oswald"/>
                <a:cs typeface="Oswald"/>
                <a:sym typeface="Oswald"/>
              </a:rPr>
              <a:t>Statistik Jumlah Data per Kelas</a:t>
            </a:r>
          </a:p>
        </p:txBody>
      </p:sp>
      <p:sp>
        <p:nvSpPr>
          <p:cNvPr name="TextBox 5" id="5"/>
          <p:cNvSpPr txBox="true"/>
          <p:nvPr/>
        </p:nvSpPr>
        <p:spPr>
          <a:xfrm rot="0">
            <a:off x="1791839" y="1636666"/>
            <a:ext cx="7352161" cy="635000"/>
          </a:xfrm>
          <a:prstGeom prst="rect">
            <a:avLst/>
          </a:prstGeom>
        </p:spPr>
        <p:txBody>
          <a:bodyPr anchor="t" rtlCol="false" tIns="0" lIns="0" bIns="0" rIns="0">
            <a:spAutoFit/>
          </a:bodyPr>
          <a:lstStyle/>
          <a:p>
            <a:pPr algn="ctr">
              <a:lnSpc>
                <a:spcPts val="4900"/>
              </a:lnSpc>
            </a:pPr>
            <a:r>
              <a:rPr lang="en-US" sz="3500" b="true">
                <a:solidFill>
                  <a:srgbClr val="CD4146"/>
                </a:solidFill>
                <a:latin typeface="Poppins Bold"/>
                <a:ea typeface="Poppins Bold"/>
                <a:cs typeface="Poppins Bold"/>
                <a:sym typeface="Poppins Bold"/>
              </a:rPr>
              <a:t>Plat Dinas (Merah)</a:t>
            </a:r>
          </a:p>
        </p:txBody>
      </p:sp>
      <p:sp>
        <p:nvSpPr>
          <p:cNvPr name="TextBox 6" id="6"/>
          <p:cNvSpPr txBox="true"/>
          <p:nvPr/>
        </p:nvSpPr>
        <p:spPr>
          <a:xfrm rot="0">
            <a:off x="9626779" y="1698947"/>
            <a:ext cx="7195822" cy="635000"/>
          </a:xfrm>
          <a:prstGeom prst="rect">
            <a:avLst/>
          </a:prstGeom>
        </p:spPr>
        <p:txBody>
          <a:bodyPr anchor="t" rtlCol="false" tIns="0" lIns="0" bIns="0" rIns="0">
            <a:spAutoFit/>
          </a:bodyPr>
          <a:lstStyle/>
          <a:p>
            <a:pPr algn="ctr">
              <a:lnSpc>
                <a:spcPts val="4900"/>
              </a:lnSpc>
            </a:pPr>
            <a:r>
              <a:rPr lang="en-US" sz="3500" b="true">
                <a:solidFill>
                  <a:srgbClr val="CD4146"/>
                </a:solidFill>
                <a:latin typeface="Poppins Bold"/>
                <a:ea typeface="Poppins Bold"/>
                <a:cs typeface="Poppins Bold"/>
                <a:sym typeface="Poppins Bold"/>
              </a:rPr>
              <a:t>Plat Non-Dinas (Hitam/Putih)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294756"/>
            <a:ext cx="16661135" cy="8229600"/>
            <a:chOff x="0" y="0"/>
            <a:chExt cx="4388118" cy="2167467"/>
          </a:xfrm>
        </p:grpSpPr>
        <p:sp>
          <p:nvSpPr>
            <p:cNvPr name="Freeform 4" id="4"/>
            <p:cNvSpPr/>
            <p:nvPr/>
          </p:nvSpPr>
          <p:spPr>
            <a:xfrm flipH="false" flipV="false" rot="0">
              <a:off x="0" y="0"/>
              <a:ext cx="4388118" cy="2167467"/>
            </a:xfrm>
            <a:custGeom>
              <a:avLst/>
              <a:gdLst/>
              <a:ahLst/>
              <a:cxnLst/>
              <a:rect r="r" b="b" t="t" l="l"/>
              <a:pathLst>
                <a:path h="2167467" w="4388118">
                  <a:moveTo>
                    <a:pt x="23698" y="0"/>
                  </a:moveTo>
                  <a:lnTo>
                    <a:pt x="4364420" y="0"/>
                  </a:lnTo>
                  <a:cubicBezTo>
                    <a:pt x="4370705" y="0"/>
                    <a:pt x="4376732" y="2497"/>
                    <a:pt x="4381177" y="6941"/>
                  </a:cubicBezTo>
                  <a:cubicBezTo>
                    <a:pt x="4385621" y="11385"/>
                    <a:pt x="4388118" y="17413"/>
                    <a:pt x="4388118" y="23698"/>
                  </a:cubicBezTo>
                  <a:lnTo>
                    <a:pt x="4388118" y="2143769"/>
                  </a:lnTo>
                  <a:cubicBezTo>
                    <a:pt x="4388118" y="2156857"/>
                    <a:pt x="4377508" y="2167467"/>
                    <a:pt x="4364420" y="2167467"/>
                  </a:cubicBezTo>
                  <a:lnTo>
                    <a:pt x="23698" y="2167467"/>
                  </a:lnTo>
                  <a:cubicBezTo>
                    <a:pt x="17413" y="2167467"/>
                    <a:pt x="11385" y="2164970"/>
                    <a:pt x="6941" y="2160526"/>
                  </a:cubicBezTo>
                  <a:cubicBezTo>
                    <a:pt x="2497" y="2156081"/>
                    <a:pt x="0" y="2150054"/>
                    <a:pt x="0" y="2143769"/>
                  </a:cubicBezTo>
                  <a:lnTo>
                    <a:pt x="0" y="23698"/>
                  </a:lnTo>
                  <a:cubicBezTo>
                    <a:pt x="0" y="10610"/>
                    <a:pt x="10610" y="0"/>
                    <a:pt x="23698" y="0"/>
                  </a:cubicBezTo>
                  <a:close/>
                </a:path>
              </a:pathLst>
            </a:custGeom>
            <a:ln w="19050" cap="rnd">
              <a:solidFill>
                <a:srgbClr val="CD4146"/>
              </a:solidFill>
              <a:prstDash val="solid"/>
              <a:round/>
            </a:ln>
          </p:spPr>
        </p:sp>
        <p:sp>
          <p:nvSpPr>
            <p:cNvPr name="TextBox 5" id="5"/>
            <p:cNvSpPr txBox="true"/>
            <p:nvPr/>
          </p:nvSpPr>
          <p:spPr>
            <a:xfrm>
              <a:off x="0" y="-57150"/>
              <a:ext cx="4388118" cy="2224617"/>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4510816" y="45640"/>
            <a:ext cx="9696902" cy="1169841"/>
          </a:xfrm>
          <a:prstGeom prst="rect">
            <a:avLst/>
          </a:prstGeom>
        </p:spPr>
        <p:txBody>
          <a:bodyPr anchor="t" rtlCol="false" tIns="0" lIns="0" bIns="0" rIns="0">
            <a:spAutoFit/>
          </a:bodyPr>
          <a:lstStyle/>
          <a:p>
            <a:pPr algn="ctr" marL="0" indent="0" lvl="0">
              <a:lnSpc>
                <a:spcPts val="9545"/>
              </a:lnSpc>
              <a:spcBef>
                <a:spcPct val="0"/>
              </a:spcBef>
            </a:pPr>
            <a:r>
              <a:rPr lang="en-US" sz="6818">
                <a:solidFill>
                  <a:srgbClr val="CD4146"/>
                </a:solidFill>
                <a:latin typeface="Oswald"/>
                <a:ea typeface="Oswald"/>
                <a:cs typeface="Oswald"/>
                <a:sym typeface="Oswald"/>
              </a:rPr>
              <a:t>Alur </a:t>
            </a:r>
          </a:p>
        </p:txBody>
      </p:sp>
      <p:sp>
        <p:nvSpPr>
          <p:cNvPr name="TextBox 7" id="7"/>
          <p:cNvSpPr txBox="true"/>
          <p:nvPr/>
        </p:nvSpPr>
        <p:spPr>
          <a:xfrm rot="0">
            <a:off x="2423197" y="2728364"/>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Labelling</a:t>
            </a:r>
          </a:p>
        </p:txBody>
      </p:sp>
      <p:sp>
        <p:nvSpPr>
          <p:cNvPr name="TextBox 8" id="8"/>
          <p:cNvSpPr txBox="true"/>
          <p:nvPr/>
        </p:nvSpPr>
        <p:spPr>
          <a:xfrm rot="0">
            <a:off x="2423197" y="3336900"/>
            <a:ext cx="6300223" cy="746760"/>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Membagi dataset menjadi 2 kelas, yaitu Dinas dan Non-Dinas</a:t>
            </a:r>
          </a:p>
        </p:txBody>
      </p:sp>
      <p:sp>
        <p:nvSpPr>
          <p:cNvPr name="TextBox 9" id="9"/>
          <p:cNvSpPr txBox="true"/>
          <p:nvPr/>
        </p:nvSpPr>
        <p:spPr>
          <a:xfrm rot="0">
            <a:off x="2423197" y="4471780"/>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Quality Check</a:t>
            </a:r>
          </a:p>
        </p:txBody>
      </p:sp>
      <p:sp>
        <p:nvSpPr>
          <p:cNvPr name="TextBox 10" id="10"/>
          <p:cNvSpPr txBox="true"/>
          <p:nvPr/>
        </p:nvSpPr>
        <p:spPr>
          <a:xfrm rot="0">
            <a:off x="2423197" y="5080317"/>
            <a:ext cx="6300223" cy="111823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Melakukan pengecekan dan preprocessing terhadap dataset, apakah terdapat format, size,, kualitas gambar yang tidak sesuai</a:t>
            </a:r>
          </a:p>
        </p:txBody>
      </p:sp>
      <p:sp>
        <p:nvSpPr>
          <p:cNvPr name="TextBox 11" id="11"/>
          <p:cNvSpPr txBox="true"/>
          <p:nvPr/>
        </p:nvSpPr>
        <p:spPr>
          <a:xfrm rot="0">
            <a:off x="2423197" y="6722427"/>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Duplicate Check</a:t>
            </a:r>
          </a:p>
        </p:txBody>
      </p:sp>
      <p:sp>
        <p:nvSpPr>
          <p:cNvPr name="TextBox 12" id="12"/>
          <p:cNvSpPr txBox="true"/>
          <p:nvPr/>
        </p:nvSpPr>
        <p:spPr>
          <a:xfrm rot="0">
            <a:off x="2423197" y="7330963"/>
            <a:ext cx="6300223" cy="746760"/>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Melakukan pengecekan dari dataset, apakah terdapat duplikat</a:t>
            </a:r>
          </a:p>
        </p:txBody>
      </p:sp>
      <p:sp>
        <p:nvSpPr>
          <p:cNvPr name="TextBox 13" id="13"/>
          <p:cNvSpPr txBox="true"/>
          <p:nvPr/>
        </p:nvSpPr>
        <p:spPr>
          <a:xfrm rot="0">
            <a:off x="10881514" y="2655648"/>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Resize</a:t>
            </a:r>
          </a:p>
        </p:txBody>
      </p:sp>
      <p:sp>
        <p:nvSpPr>
          <p:cNvPr name="TextBox 14" id="14"/>
          <p:cNvSpPr txBox="true"/>
          <p:nvPr/>
        </p:nvSpPr>
        <p:spPr>
          <a:xfrm rot="0">
            <a:off x="10881514" y="3264184"/>
            <a:ext cx="6300223" cy="746760"/>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Resize gambar-gambar yang belum memiliki format yang sesuai </a:t>
            </a:r>
          </a:p>
        </p:txBody>
      </p:sp>
      <p:grpSp>
        <p:nvGrpSpPr>
          <p:cNvPr name="Group 15" id="15"/>
          <p:cNvGrpSpPr/>
          <p:nvPr/>
        </p:nvGrpSpPr>
        <p:grpSpPr>
          <a:xfrm rot="0">
            <a:off x="1471212" y="2814089"/>
            <a:ext cx="699655" cy="69965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18" id="18"/>
          <p:cNvGrpSpPr/>
          <p:nvPr/>
        </p:nvGrpSpPr>
        <p:grpSpPr>
          <a:xfrm rot="0">
            <a:off x="1471212" y="4557505"/>
            <a:ext cx="699655" cy="69965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1536797" y="6808152"/>
            <a:ext cx="699655" cy="69965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24" id="24"/>
          <p:cNvGrpSpPr/>
          <p:nvPr/>
        </p:nvGrpSpPr>
        <p:grpSpPr>
          <a:xfrm rot="0">
            <a:off x="9995114" y="2741373"/>
            <a:ext cx="699655" cy="69965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27" id="27"/>
          <p:cNvSpPr txBox="true"/>
          <p:nvPr/>
        </p:nvSpPr>
        <p:spPr>
          <a:xfrm rot="0">
            <a:off x="1440340" y="2865949"/>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1</a:t>
            </a:r>
          </a:p>
        </p:txBody>
      </p:sp>
      <p:sp>
        <p:nvSpPr>
          <p:cNvPr name="TextBox 28" id="28"/>
          <p:cNvSpPr txBox="true"/>
          <p:nvPr/>
        </p:nvSpPr>
        <p:spPr>
          <a:xfrm rot="0">
            <a:off x="1430912" y="4609366"/>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2</a:t>
            </a:r>
          </a:p>
        </p:txBody>
      </p:sp>
      <p:sp>
        <p:nvSpPr>
          <p:cNvPr name="TextBox 29" id="29"/>
          <p:cNvSpPr txBox="true"/>
          <p:nvPr/>
        </p:nvSpPr>
        <p:spPr>
          <a:xfrm rot="0">
            <a:off x="1496497" y="6860012"/>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3</a:t>
            </a:r>
          </a:p>
        </p:txBody>
      </p:sp>
      <p:sp>
        <p:nvSpPr>
          <p:cNvPr name="TextBox 30" id="30"/>
          <p:cNvSpPr txBox="true"/>
          <p:nvPr/>
        </p:nvSpPr>
        <p:spPr>
          <a:xfrm rot="0">
            <a:off x="9954815" y="2793233"/>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4</a:t>
            </a:r>
          </a:p>
        </p:txBody>
      </p:sp>
      <p:sp>
        <p:nvSpPr>
          <p:cNvPr name="TextBox 31" id="31"/>
          <p:cNvSpPr txBox="true"/>
          <p:nvPr/>
        </p:nvSpPr>
        <p:spPr>
          <a:xfrm rot="0">
            <a:off x="10987399" y="4584802"/>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Normalisasi Piksel</a:t>
            </a:r>
          </a:p>
        </p:txBody>
      </p:sp>
      <p:sp>
        <p:nvSpPr>
          <p:cNvPr name="TextBox 32" id="32"/>
          <p:cNvSpPr txBox="true"/>
          <p:nvPr/>
        </p:nvSpPr>
        <p:spPr>
          <a:xfrm rot="0">
            <a:off x="10987399" y="5193338"/>
            <a:ext cx="6300223" cy="37528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Melakukan normalisasi piksel</a:t>
            </a:r>
          </a:p>
        </p:txBody>
      </p:sp>
      <p:grpSp>
        <p:nvGrpSpPr>
          <p:cNvPr name="Group 33" id="33"/>
          <p:cNvGrpSpPr/>
          <p:nvPr/>
        </p:nvGrpSpPr>
        <p:grpSpPr>
          <a:xfrm rot="0">
            <a:off x="10035414" y="4670527"/>
            <a:ext cx="699655" cy="69965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35" id="35"/>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36" id="36"/>
          <p:cNvSpPr txBox="true"/>
          <p:nvPr/>
        </p:nvSpPr>
        <p:spPr>
          <a:xfrm rot="0">
            <a:off x="9995114" y="4722387"/>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flipV="true">
            <a:off x="2776591" y="2721444"/>
            <a:ext cx="0" cy="4254501"/>
          </a:xfrm>
          <a:prstGeom prst="line">
            <a:avLst/>
          </a:prstGeom>
          <a:ln cap="flat" w="19050">
            <a:solidFill>
              <a:srgbClr val="CD4146"/>
            </a:solidFill>
            <a:prstDash val="solid"/>
            <a:headEnd type="none" len="sm" w="sm"/>
            <a:tailEnd type="none" len="sm" w="sm"/>
          </a:ln>
        </p:spPr>
      </p:sp>
      <p:sp>
        <p:nvSpPr>
          <p:cNvPr name="TextBox 4" id="4"/>
          <p:cNvSpPr txBox="true"/>
          <p:nvPr/>
        </p:nvSpPr>
        <p:spPr>
          <a:xfrm rot="0">
            <a:off x="4295549" y="383241"/>
            <a:ext cx="9696902" cy="1157569"/>
          </a:xfrm>
          <a:prstGeom prst="rect">
            <a:avLst/>
          </a:prstGeom>
        </p:spPr>
        <p:txBody>
          <a:bodyPr anchor="t" rtlCol="false" tIns="0" lIns="0" bIns="0" rIns="0">
            <a:spAutoFit/>
          </a:bodyPr>
          <a:lstStyle/>
          <a:p>
            <a:pPr algn="ctr">
              <a:lnSpc>
                <a:spcPts val="9545"/>
              </a:lnSpc>
            </a:pPr>
            <a:r>
              <a:rPr lang="en-US" sz="6818">
                <a:solidFill>
                  <a:srgbClr val="CD4146"/>
                </a:solidFill>
                <a:latin typeface="Oswald"/>
                <a:ea typeface="Oswald"/>
                <a:cs typeface="Oswald"/>
                <a:sym typeface="Oswald"/>
              </a:rPr>
              <a:t>Split Data (80:20)</a:t>
            </a:r>
          </a:p>
        </p:txBody>
      </p:sp>
      <p:sp>
        <p:nvSpPr>
          <p:cNvPr name="TextBox 5" id="5"/>
          <p:cNvSpPr txBox="true"/>
          <p:nvPr/>
        </p:nvSpPr>
        <p:spPr>
          <a:xfrm rot="0">
            <a:off x="3354978" y="2904566"/>
            <a:ext cx="12085624" cy="2193925"/>
          </a:xfrm>
          <a:prstGeom prst="rect">
            <a:avLst/>
          </a:prstGeom>
        </p:spPr>
        <p:txBody>
          <a:bodyPr anchor="t" rtlCol="false" tIns="0" lIns="0" bIns="0" rIns="0">
            <a:spAutoFit/>
          </a:bodyPr>
          <a:lstStyle/>
          <a:p>
            <a:pPr algn="just">
              <a:lnSpc>
                <a:spcPts val="3499"/>
              </a:lnSpc>
            </a:pPr>
            <a:r>
              <a:rPr lang="en-US" sz="2499" b="true">
                <a:solidFill>
                  <a:srgbClr val="CD4146"/>
                </a:solidFill>
                <a:latin typeface="Poppins Bold"/>
                <a:ea typeface="Poppins Bold"/>
                <a:cs typeface="Poppins Bold"/>
                <a:sym typeface="Poppins Bold"/>
              </a:rPr>
              <a:t>Kelas Plat Dinas (51 Kendaraan)</a:t>
            </a:r>
          </a:p>
          <a:p>
            <a:pPr algn="just" marL="539748" indent="-269874" lvl="1">
              <a:lnSpc>
                <a:spcPts val="3499"/>
              </a:lnSpc>
              <a:buFont typeface="Arial"/>
              <a:buChar char="•"/>
            </a:pPr>
            <a:r>
              <a:rPr lang="en-US" sz="2499">
                <a:solidFill>
                  <a:srgbClr val="CD4146"/>
                </a:solidFill>
                <a:latin typeface="Poppins"/>
                <a:ea typeface="Poppins"/>
                <a:cs typeface="Poppins"/>
                <a:sym typeface="Poppins"/>
              </a:rPr>
              <a:t>Train (41 Kendaraan): Semua variasi fotonya masuk ke folder Training.</a:t>
            </a:r>
          </a:p>
          <a:p>
            <a:pPr algn="just" marL="539748" indent="-269874" lvl="1">
              <a:lnSpc>
                <a:spcPts val="3499"/>
              </a:lnSpc>
              <a:buFont typeface="Arial"/>
              <a:buChar char="•"/>
            </a:pPr>
            <a:r>
              <a:rPr lang="en-US" sz="2499">
                <a:solidFill>
                  <a:srgbClr val="CD4146"/>
                </a:solidFill>
                <a:latin typeface="Poppins"/>
                <a:ea typeface="Poppins"/>
                <a:cs typeface="Poppins"/>
                <a:sym typeface="Poppins"/>
              </a:rPr>
              <a:t>Val/Test (10 Kendaraan): Semua variasi fotonya masuk ke folder Validation.</a:t>
            </a:r>
          </a:p>
          <a:p>
            <a:pPr algn="just">
              <a:lnSpc>
                <a:spcPts val="3499"/>
              </a:lnSpc>
            </a:pPr>
          </a:p>
        </p:txBody>
      </p:sp>
      <p:sp>
        <p:nvSpPr>
          <p:cNvPr name="TextBox 6" id="6"/>
          <p:cNvSpPr txBox="true"/>
          <p:nvPr/>
        </p:nvSpPr>
        <p:spPr>
          <a:xfrm rot="0">
            <a:off x="3354978" y="5031817"/>
            <a:ext cx="12085624" cy="2193925"/>
          </a:xfrm>
          <a:prstGeom prst="rect">
            <a:avLst/>
          </a:prstGeom>
        </p:spPr>
        <p:txBody>
          <a:bodyPr anchor="t" rtlCol="false" tIns="0" lIns="0" bIns="0" rIns="0">
            <a:spAutoFit/>
          </a:bodyPr>
          <a:lstStyle/>
          <a:p>
            <a:pPr algn="just">
              <a:lnSpc>
                <a:spcPts val="3499"/>
              </a:lnSpc>
            </a:pPr>
            <a:r>
              <a:rPr lang="en-US" sz="2499" b="true">
                <a:solidFill>
                  <a:srgbClr val="CD4146"/>
                </a:solidFill>
                <a:latin typeface="Poppins Bold"/>
                <a:ea typeface="Poppins Bold"/>
                <a:cs typeface="Poppins Bold"/>
                <a:sym typeface="Poppins Bold"/>
              </a:rPr>
              <a:t>Kelas Plat Non-Dinas (62 Kendaraan)</a:t>
            </a:r>
          </a:p>
          <a:p>
            <a:pPr algn="just" marL="539748" indent="-269874" lvl="1">
              <a:lnSpc>
                <a:spcPts val="3499"/>
              </a:lnSpc>
              <a:buFont typeface="Arial"/>
              <a:buChar char="•"/>
            </a:pPr>
            <a:r>
              <a:rPr lang="en-US" sz="2499">
                <a:solidFill>
                  <a:srgbClr val="CD4146"/>
                </a:solidFill>
                <a:latin typeface="Poppins"/>
                <a:ea typeface="Poppins"/>
                <a:cs typeface="Poppins"/>
                <a:sym typeface="Poppins"/>
              </a:rPr>
              <a:t>Train (50 Kendaraan): Semua variasi fotonya masuk ke folder Training.</a:t>
            </a:r>
          </a:p>
          <a:p>
            <a:pPr algn="just" marL="539748" indent="-269874" lvl="1">
              <a:lnSpc>
                <a:spcPts val="3499"/>
              </a:lnSpc>
              <a:buFont typeface="Arial"/>
              <a:buChar char="•"/>
            </a:pPr>
            <a:r>
              <a:rPr lang="en-US" sz="2499">
                <a:solidFill>
                  <a:srgbClr val="CD4146"/>
                </a:solidFill>
                <a:latin typeface="Poppins"/>
                <a:ea typeface="Poppins"/>
                <a:cs typeface="Poppins"/>
                <a:sym typeface="Poppins"/>
              </a:rPr>
              <a:t>Val/Test (12 Kendaraan): Semua variasi fotonya masuk ke folder Validation.</a:t>
            </a:r>
          </a:p>
          <a:p>
            <a:pPr algn="just">
              <a:lnSpc>
                <a:spcPts val="34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038872" y="8931530"/>
            <a:ext cx="6637037" cy="6540146"/>
          </a:xfrm>
          <a:custGeom>
            <a:avLst/>
            <a:gdLst/>
            <a:ahLst/>
            <a:cxnLst/>
            <a:rect r="r" b="b" t="t" l="l"/>
            <a:pathLst>
              <a:path h="6540146" w="6637037">
                <a:moveTo>
                  <a:pt x="0" y="0"/>
                </a:moveTo>
                <a:lnTo>
                  <a:pt x="6637037" y="0"/>
                </a:lnTo>
                <a:lnTo>
                  <a:pt x="6637037" y="6540146"/>
                </a:lnTo>
                <a:lnTo>
                  <a:pt x="0" y="65401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3433" y="1546103"/>
            <a:ext cx="16661135" cy="8559227"/>
            <a:chOff x="0" y="0"/>
            <a:chExt cx="4388118" cy="2254282"/>
          </a:xfrm>
        </p:grpSpPr>
        <p:sp>
          <p:nvSpPr>
            <p:cNvPr name="Freeform 5" id="5"/>
            <p:cNvSpPr/>
            <p:nvPr/>
          </p:nvSpPr>
          <p:spPr>
            <a:xfrm flipH="false" flipV="false" rot="0">
              <a:off x="0" y="0"/>
              <a:ext cx="4388118" cy="2254282"/>
            </a:xfrm>
            <a:custGeom>
              <a:avLst/>
              <a:gdLst/>
              <a:ahLst/>
              <a:cxnLst/>
              <a:rect r="r" b="b" t="t" l="l"/>
              <a:pathLst>
                <a:path h="2254282" w="4388118">
                  <a:moveTo>
                    <a:pt x="23698" y="0"/>
                  </a:moveTo>
                  <a:lnTo>
                    <a:pt x="4364420" y="0"/>
                  </a:lnTo>
                  <a:cubicBezTo>
                    <a:pt x="4370705" y="0"/>
                    <a:pt x="4376732" y="2497"/>
                    <a:pt x="4381177" y="6941"/>
                  </a:cubicBezTo>
                  <a:cubicBezTo>
                    <a:pt x="4385621" y="11385"/>
                    <a:pt x="4388118" y="17413"/>
                    <a:pt x="4388118" y="23698"/>
                  </a:cubicBezTo>
                  <a:lnTo>
                    <a:pt x="4388118" y="2230584"/>
                  </a:lnTo>
                  <a:cubicBezTo>
                    <a:pt x="4388118" y="2243672"/>
                    <a:pt x="4377508" y="2254282"/>
                    <a:pt x="4364420" y="2254282"/>
                  </a:cubicBezTo>
                  <a:lnTo>
                    <a:pt x="23698" y="2254282"/>
                  </a:lnTo>
                  <a:cubicBezTo>
                    <a:pt x="10610" y="2254282"/>
                    <a:pt x="0" y="2243672"/>
                    <a:pt x="0" y="2230584"/>
                  </a:cubicBezTo>
                  <a:lnTo>
                    <a:pt x="0" y="23698"/>
                  </a:lnTo>
                  <a:cubicBezTo>
                    <a:pt x="0" y="10610"/>
                    <a:pt x="10610" y="0"/>
                    <a:pt x="23698" y="0"/>
                  </a:cubicBezTo>
                  <a:close/>
                </a:path>
              </a:pathLst>
            </a:custGeom>
            <a:ln w="19050" cap="rnd">
              <a:solidFill>
                <a:srgbClr val="CD4146"/>
              </a:solidFill>
              <a:prstDash val="solid"/>
              <a:round/>
            </a:ln>
          </p:spPr>
        </p:sp>
        <p:sp>
          <p:nvSpPr>
            <p:cNvPr name="TextBox 6" id="6"/>
            <p:cNvSpPr txBox="true"/>
            <p:nvPr/>
          </p:nvSpPr>
          <p:spPr>
            <a:xfrm>
              <a:off x="0" y="-57150"/>
              <a:ext cx="4388118" cy="2311432"/>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3967968" y="223694"/>
            <a:ext cx="9696902" cy="1169841"/>
          </a:xfrm>
          <a:prstGeom prst="rect">
            <a:avLst/>
          </a:prstGeom>
        </p:spPr>
        <p:txBody>
          <a:bodyPr anchor="t" rtlCol="false" tIns="0" lIns="0" bIns="0" rIns="0">
            <a:spAutoFit/>
          </a:bodyPr>
          <a:lstStyle/>
          <a:p>
            <a:pPr algn="ctr" marL="0" indent="0" lvl="0">
              <a:lnSpc>
                <a:spcPts val="9545"/>
              </a:lnSpc>
              <a:spcBef>
                <a:spcPct val="0"/>
              </a:spcBef>
            </a:pPr>
            <a:r>
              <a:rPr lang="en-US" sz="6818">
                <a:solidFill>
                  <a:srgbClr val="CD4146"/>
                </a:solidFill>
                <a:latin typeface="Oswald"/>
                <a:ea typeface="Oswald"/>
                <a:cs typeface="Oswald"/>
                <a:sym typeface="Oswald"/>
              </a:rPr>
              <a:t>Standarisasi Dataset</a:t>
            </a:r>
          </a:p>
        </p:txBody>
      </p:sp>
      <p:sp>
        <p:nvSpPr>
          <p:cNvPr name="TextBox 8" id="8"/>
          <p:cNvSpPr txBox="true"/>
          <p:nvPr/>
        </p:nvSpPr>
        <p:spPr>
          <a:xfrm rot="0">
            <a:off x="2516195" y="1999632"/>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Format File</a:t>
            </a:r>
          </a:p>
        </p:txBody>
      </p:sp>
      <p:sp>
        <p:nvSpPr>
          <p:cNvPr name="TextBox 9" id="9"/>
          <p:cNvSpPr txBox="true"/>
          <p:nvPr/>
        </p:nvSpPr>
        <p:spPr>
          <a:xfrm rot="0">
            <a:off x="2485323" y="3870862"/>
            <a:ext cx="5209151"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Resolusi</a:t>
            </a:r>
          </a:p>
        </p:txBody>
      </p:sp>
      <p:sp>
        <p:nvSpPr>
          <p:cNvPr name="TextBox 10" id="10"/>
          <p:cNvSpPr txBox="true"/>
          <p:nvPr/>
        </p:nvSpPr>
        <p:spPr>
          <a:xfrm rot="0">
            <a:off x="2403137" y="7254390"/>
            <a:ext cx="5272527"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Penamaan Folder dan File</a:t>
            </a:r>
          </a:p>
        </p:txBody>
      </p:sp>
      <p:sp>
        <p:nvSpPr>
          <p:cNvPr name="TextBox 11" id="11"/>
          <p:cNvSpPr txBox="true"/>
          <p:nvPr/>
        </p:nvSpPr>
        <p:spPr>
          <a:xfrm rot="0">
            <a:off x="10668246" y="2076397"/>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Struktur Folder</a:t>
            </a:r>
          </a:p>
        </p:txBody>
      </p:sp>
      <p:grpSp>
        <p:nvGrpSpPr>
          <p:cNvPr name="Group 12" id="12"/>
          <p:cNvGrpSpPr/>
          <p:nvPr/>
        </p:nvGrpSpPr>
        <p:grpSpPr>
          <a:xfrm rot="0">
            <a:off x="1564210" y="2085357"/>
            <a:ext cx="699655" cy="69965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1533338" y="3956587"/>
            <a:ext cx="699655" cy="69965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18" id="18"/>
          <p:cNvGrpSpPr/>
          <p:nvPr/>
        </p:nvGrpSpPr>
        <p:grpSpPr>
          <a:xfrm rot="0">
            <a:off x="1516737" y="7340115"/>
            <a:ext cx="699655" cy="69965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9781846" y="2162122"/>
            <a:ext cx="699655" cy="69965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24" id="24"/>
          <p:cNvSpPr txBox="true"/>
          <p:nvPr/>
        </p:nvSpPr>
        <p:spPr>
          <a:xfrm rot="0">
            <a:off x="1533338" y="2137217"/>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1</a:t>
            </a:r>
          </a:p>
        </p:txBody>
      </p:sp>
      <p:sp>
        <p:nvSpPr>
          <p:cNvPr name="TextBox 25" id="25"/>
          <p:cNvSpPr txBox="true"/>
          <p:nvPr/>
        </p:nvSpPr>
        <p:spPr>
          <a:xfrm rot="0">
            <a:off x="1493039" y="4008447"/>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2</a:t>
            </a:r>
          </a:p>
        </p:txBody>
      </p:sp>
      <p:sp>
        <p:nvSpPr>
          <p:cNvPr name="TextBox 26" id="26"/>
          <p:cNvSpPr txBox="true"/>
          <p:nvPr/>
        </p:nvSpPr>
        <p:spPr>
          <a:xfrm rot="0">
            <a:off x="1476438" y="7391975"/>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4</a:t>
            </a:r>
          </a:p>
        </p:txBody>
      </p:sp>
      <p:sp>
        <p:nvSpPr>
          <p:cNvPr name="TextBox 27" id="27"/>
          <p:cNvSpPr txBox="true"/>
          <p:nvPr/>
        </p:nvSpPr>
        <p:spPr>
          <a:xfrm rot="0">
            <a:off x="9741546" y="2213982"/>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5</a:t>
            </a:r>
          </a:p>
        </p:txBody>
      </p:sp>
      <p:sp>
        <p:nvSpPr>
          <p:cNvPr name="TextBox 28" id="28"/>
          <p:cNvSpPr txBox="true"/>
          <p:nvPr/>
        </p:nvSpPr>
        <p:spPr>
          <a:xfrm rot="0">
            <a:off x="2485323" y="5741300"/>
            <a:ext cx="5209151"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Warna</a:t>
            </a:r>
          </a:p>
        </p:txBody>
      </p:sp>
      <p:sp>
        <p:nvSpPr>
          <p:cNvPr name="TextBox 29" id="29"/>
          <p:cNvSpPr txBox="true"/>
          <p:nvPr/>
        </p:nvSpPr>
        <p:spPr>
          <a:xfrm rot="0">
            <a:off x="10668246" y="3946835"/>
            <a:ext cx="3483279"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Waktu</a:t>
            </a:r>
          </a:p>
        </p:txBody>
      </p:sp>
      <p:grpSp>
        <p:nvGrpSpPr>
          <p:cNvPr name="Group 30" id="30"/>
          <p:cNvGrpSpPr/>
          <p:nvPr/>
        </p:nvGrpSpPr>
        <p:grpSpPr>
          <a:xfrm rot="0">
            <a:off x="1533338" y="5827025"/>
            <a:ext cx="699655" cy="699655"/>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32" id="32"/>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33" id="33"/>
          <p:cNvGrpSpPr/>
          <p:nvPr/>
        </p:nvGrpSpPr>
        <p:grpSpPr>
          <a:xfrm rot="0">
            <a:off x="9781846" y="4032560"/>
            <a:ext cx="699655" cy="69965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35" id="35"/>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36" id="36"/>
          <p:cNvSpPr txBox="true"/>
          <p:nvPr/>
        </p:nvSpPr>
        <p:spPr>
          <a:xfrm rot="0">
            <a:off x="1493039" y="5878885"/>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3</a:t>
            </a:r>
          </a:p>
        </p:txBody>
      </p:sp>
      <p:sp>
        <p:nvSpPr>
          <p:cNvPr name="TextBox 37" id="37"/>
          <p:cNvSpPr txBox="true"/>
          <p:nvPr/>
        </p:nvSpPr>
        <p:spPr>
          <a:xfrm rot="0">
            <a:off x="9741546" y="4084420"/>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6</a:t>
            </a:r>
          </a:p>
        </p:txBody>
      </p:sp>
      <p:sp>
        <p:nvSpPr>
          <p:cNvPr name="TextBox 38" id="38"/>
          <p:cNvSpPr txBox="true"/>
          <p:nvPr/>
        </p:nvSpPr>
        <p:spPr>
          <a:xfrm rot="0">
            <a:off x="2516195" y="2727862"/>
            <a:ext cx="6300223" cy="37528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Semua gambar dengan format </a:t>
            </a:r>
            <a:r>
              <a:rPr lang="en-US" sz="2100" b="true">
                <a:solidFill>
                  <a:srgbClr val="CD4146"/>
                </a:solidFill>
                <a:latin typeface="Poppins Bold"/>
                <a:ea typeface="Poppins Bold"/>
                <a:cs typeface="Poppins Bold"/>
                <a:sym typeface="Poppins Bold"/>
              </a:rPr>
              <a:t>JPG</a:t>
            </a:r>
          </a:p>
        </p:txBody>
      </p:sp>
      <p:sp>
        <p:nvSpPr>
          <p:cNvPr name="TextBox 39" id="39"/>
          <p:cNvSpPr txBox="true"/>
          <p:nvPr/>
        </p:nvSpPr>
        <p:spPr>
          <a:xfrm rot="0">
            <a:off x="2516195" y="4587547"/>
            <a:ext cx="6300223" cy="746760"/>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Semua gambar konsisten 224 x 224 piksel atau rasio 1:1 </a:t>
            </a:r>
          </a:p>
        </p:txBody>
      </p:sp>
      <p:sp>
        <p:nvSpPr>
          <p:cNvPr name="TextBox 40" id="40"/>
          <p:cNvSpPr txBox="true"/>
          <p:nvPr/>
        </p:nvSpPr>
        <p:spPr>
          <a:xfrm rot="0">
            <a:off x="2516195" y="6469530"/>
            <a:ext cx="6300223" cy="37528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RGB untuk semua dataset</a:t>
            </a:r>
          </a:p>
        </p:txBody>
      </p:sp>
      <p:sp>
        <p:nvSpPr>
          <p:cNvPr name="TextBox 41" id="41"/>
          <p:cNvSpPr txBox="true"/>
          <p:nvPr/>
        </p:nvSpPr>
        <p:spPr>
          <a:xfrm rot="0">
            <a:off x="2403137" y="7845035"/>
            <a:ext cx="6300223" cy="1861185"/>
          </a:xfrm>
          <a:prstGeom prst="rect">
            <a:avLst/>
          </a:prstGeom>
        </p:spPr>
        <p:txBody>
          <a:bodyPr anchor="t" rtlCol="false" tIns="0" lIns="0" bIns="0" rIns="0">
            <a:spAutoFit/>
          </a:bodyPr>
          <a:lstStyle/>
          <a:p>
            <a:pPr algn="l">
              <a:lnSpc>
                <a:spcPts val="2940"/>
              </a:lnSpc>
            </a:pPr>
            <a:r>
              <a:rPr lang="en-US" sz="2100">
                <a:solidFill>
                  <a:srgbClr val="CD4146"/>
                </a:solidFill>
                <a:latin typeface="Poppins"/>
                <a:ea typeface="Poppins"/>
                <a:cs typeface="Poppins"/>
                <a:sym typeface="Poppins"/>
              </a:rPr>
              <a:t>Dinas</a:t>
            </a:r>
          </a:p>
          <a:p>
            <a:pPr algn="l" marL="453390" indent="-226695" lvl="1">
              <a:lnSpc>
                <a:spcPts val="2940"/>
              </a:lnSpc>
              <a:buFont typeface="Arial"/>
              <a:buChar char="•"/>
            </a:pPr>
            <a:r>
              <a:rPr lang="en-US" sz="2100">
                <a:solidFill>
                  <a:srgbClr val="CD4146"/>
                </a:solidFill>
                <a:latin typeface="Poppins"/>
                <a:ea typeface="Poppins"/>
                <a:cs typeface="Poppins"/>
                <a:sym typeface="Poppins"/>
              </a:rPr>
              <a:t>dinas_001.jpg</a:t>
            </a:r>
          </a:p>
          <a:p>
            <a:pPr algn="l" marL="453390" indent="-226695" lvl="1">
              <a:lnSpc>
                <a:spcPts val="2940"/>
              </a:lnSpc>
              <a:buFont typeface="Arial"/>
              <a:buChar char="•"/>
            </a:pPr>
            <a:r>
              <a:rPr lang="en-US" sz="2100">
                <a:solidFill>
                  <a:srgbClr val="CD4146"/>
                </a:solidFill>
                <a:latin typeface="Poppins"/>
                <a:ea typeface="Poppins"/>
                <a:cs typeface="Poppins"/>
                <a:sym typeface="Poppins"/>
              </a:rPr>
              <a:t>dinas_002.jpg</a:t>
            </a:r>
          </a:p>
          <a:p>
            <a:pPr algn="l">
              <a:lnSpc>
                <a:spcPts val="2940"/>
              </a:lnSpc>
            </a:pPr>
            <a:r>
              <a:rPr lang="en-US" sz="2100">
                <a:solidFill>
                  <a:srgbClr val="CD4146"/>
                </a:solidFill>
                <a:latin typeface="Poppins"/>
                <a:ea typeface="Poppins"/>
                <a:cs typeface="Poppins"/>
                <a:sym typeface="Poppins"/>
              </a:rPr>
              <a:t>Non-Dinas</a:t>
            </a:r>
          </a:p>
          <a:p>
            <a:pPr algn="l" marL="453390" indent="-226695" lvl="1">
              <a:lnSpc>
                <a:spcPts val="2940"/>
              </a:lnSpc>
              <a:buFont typeface="Arial"/>
              <a:buChar char="•"/>
            </a:pPr>
            <a:r>
              <a:rPr lang="en-US" sz="2100">
                <a:solidFill>
                  <a:srgbClr val="CD4146"/>
                </a:solidFill>
                <a:latin typeface="Poppins"/>
                <a:ea typeface="Poppins"/>
                <a:cs typeface="Poppins"/>
                <a:sym typeface="Poppins"/>
              </a:rPr>
              <a:t>nondinas_001.jpg</a:t>
            </a:r>
          </a:p>
        </p:txBody>
      </p:sp>
      <p:sp>
        <p:nvSpPr>
          <p:cNvPr name="TextBox 42" id="42"/>
          <p:cNvSpPr txBox="true"/>
          <p:nvPr/>
        </p:nvSpPr>
        <p:spPr>
          <a:xfrm rot="0">
            <a:off x="10672001" y="2603533"/>
            <a:ext cx="6300223" cy="111823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dataset</a:t>
            </a:r>
          </a:p>
          <a:p>
            <a:pPr algn="just">
              <a:lnSpc>
                <a:spcPts val="2940"/>
              </a:lnSpc>
            </a:pPr>
            <a:r>
              <a:rPr lang="en-US" sz="2100">
                <a:solidFill>
                  <a:srgbClr val="CD4146"/>
                </a:solidFill>
                <a:latin typeface="Poppins"/>
                <a:ea typeface="Poppins"/>
                <a:cs typeface="Poppins"/>
                <a:sym typeface="Poppins"/>
              </a:rPr>
              <a:t>- train (dinas dan non-dinas)</a:t>
            </a:r>
          </a:p>
          <a:p>
            <a:pPr algn="just">
              <a:lnSpc>
                <a:spcPts val="2940"/>
              </a:lnSpc>
            </a:pPr>
            <a:r>
              <a:rPr lang="en-US" sz="2100">
                <a:solidFill>
                  <a:srgbClr val="CD4146"/>
                </a:solidFill>
                <a:latin typeface="Poppins"/>
                <a:ea typeface="Poppins"/>
                <a:cs typeface="Poppins"/>
                <a:sym typeface="Poppins"/>
              </a:rPr>
              <a:t>- val (dinas dan non-dinas)</a:t>
            </a:r>
          </a:p>
        </p:txBody>
      </p:sp>
      <p:sp>
        <p:nvSpPr>
          <p:cNvPr name="TextBox 43" id="43"/>
          <p:cNvSpPr txBox="true"/>
          <p:nvPr/>
        </p:nvSpPr>
        <p:spPr>
          <a:xfrm rot="0">
            <a:off x="10668246" y="4515998"/>
            <a:ext cx="6300223" cy="2232660"/>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Pengambilan gambar dilakukan di berbagai waktu yaitu:</a:t>
            </a:r>
          </a:p>
          <a:p>
            <a:pPr algn="just">
              <a:lnSpc>
                <a:spcPts val="2940"/>
              </a:lnSpc>
            </a:pPr>
            <a:r>
              <a:rPr lang="en-US" sz="2100">
                <a:solidFill>
                  <a:srgbClr val="CD4146"/>
                </a:solidFill>
                <a:latin typeface="Poppins"/>
                <a:ea typeface="Poppins"/>
                <a:cs typeface="Poppins"/>
                <a:sym typeface="Poppins"/>
              </a:rPr>
              <a:t>Gudang kantor di jam 11.00 - 12.00 WITA</a:t>
            </a:r>
          </a:p>
          <a:p>
            <a:pPr algn="just">
              <a:lnSpc>
                <a:spcPts val="2940"/>
              </a:lnSpc>
            </a:pPr>
            <a:r>
              <a:rPr lang="en-US" sz="2100">
                <a:solidFill>
                  <a:srgbClr val="CD4146"/>
                </a:solidFill>
                <a:latin typeface="Poppins"/>
                <a:ea typeface="Poppins"/>
                <a:cs typeface="Poppins"/>
                <a:sym typeface="Poppins"/>
              </a:rPr>
              <a:t>Parkiran terbuka 13.30 - 14.00 WITA</a:t>
            </a:r>
          </a:p>
          <a:p>
            <a:pPr algn="just">
              <a:lnSpc>
                <a:spcPts val="2940"/>
              </a:lnSpc>
            </a:pPr>
            <a:r>
              <a:rPr lang="en-US" sz="2100">
                <a:solidFill>
                  <a:srgbClr val="CD4146"/>
                </a:solidFill>
                <a:latin typeface="Poppins"/>
                <a:ea typeface="Poppins"/>
                <a:cs typeface="Poppins"/>
                <a:sym typeface="Poppins"/>
              </a:rPr>
              <a:t>Parkiran tertutup 13.00 - 13.30 WITA</a:t>
            </a:r>
          </a:p>
          <a:p>
            <a:pPr algn="just">
              <a:lnSpc>
                <a:spcPts val="2940"/>
              </a:lnSpc>
            </a:pPr>
          </a:p>
        </p:txBody>
      </p:sp>
      <p:sp>
        <p:nvSpPr>
          <p:cNvPr name="TextBox 44" id="44"/>
          <p:cNvSpPr txBox="true"/>
          <p:nvPr/>
        </p:nvSpPr>
        <p:spPr>
          <a:xfrm rot="0">
            <a:off x="10668246" y="6527765"/>
            <a:ext cx="4732265" cy="508086"/>
          </a:xfrm>
          <a:prstGeom prst="rect">
            <a:avLst/>
          </a:prstGeom>
        </p:spPr>
        <p:txBody>
          <a:bodyPr anchor="t" rtlCol="false" tIns="0" lIns="0" bIns="0" rIns="0">
            <a:spAutoFit/>
          </a:bodyPr>
          <a:lstStyle/>
          <a:p>
            <a:pPr algn="l" marL="0" indent="0" lvl="0">
              <a:lnSpc>
                <a:spcPts val="3903"/>
              </a:lnSpc>
              <a:spcBef>
                <a:spcPct val="0"/>
              </a:spcBef>
            </a:pPr>
            <a:r>
              <a:rPr lang="en-US" b="true" sz="2787">
                <a:solidFill>
                  <a:srgbClr val="CD4146"/>
                </a:solidFill>
                <a:latin typeface="Poppins Bold"/>
                <a:ea typeface="Poppins Bold"/>
                <a:cs typeface="Poppins Bold"/>
                <a:sym typeface="Poppins Bold"/>
              </a:rPr>
              <a:t>Normalisasi Nilai Piksel</a:t>
            </a:r>
          </a:p>
        </p:txBody>
      </p:sp>
      <p:grpSp>
        <p:nvGrpSpPr>
          <p:cNvPr name="Group 45" id="45"/>
          <p:cNvGrpSpPr/>
          <p:nvPr/>
        </p:nvGrpSpPr>
        <p:grpSpPr>
          <a:xfrm rot="0">
            <a:off x="9781846" y="6613490"/>
            <a:ext cx="699655" cy="699655"/>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47" id="47"/>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48" id="48"/>
          <p:cNvSpPr txBox="true"/>
          <p:nvPr/>
        </p:nvSpPr>
        <p:spPr>
          <a:xfrm rot="0">
            <a:off x="9741546" y="6665350"/>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7</a:t>
            </a:r>
          </a:p>
        </p:txBody>
      </p:sp>
      <p:sp>
        <p:nvSpPr>
          <p:cNvPr name="TextBox 49" id="49"/>
          <p:cNvSpPr txBox="true"/>
          <p:nvPr/>
        </p:nvSpPr>
        <p:spPr>
          <a:xfrm rot="0">
            <a:off x="10672001" y="7174784"/>
            <a:ext cx="6300223" cy="111823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dataset</a:t>
            </a:r>
          </a:p>
          <a:p>
            <a:pPr algn="just">
              <a:lnSpc>
                <a:spcPts val="2940"/>
              </a:lnSpc>
            </a:pPr>
            <a:r>
              <a:rPr lang="en-US" sz="2100">
                <a:solidFill>
                  <a:srgbClr val="CD4146"/>
                </a:solidFill>
                <a:latin typeface="Poppins"/>
                <a:ea typeface="Poppins"/>
                <a:cs typeface="Poppins"/>
                <a:sym typeface="Poppins"/>
              </a:rPr>
              <a:t>- train (dinas dan non-dinas)</a:t>
            </a:r>
          </a:p>
          <a:p>
            <a:pPr algn="just">
              <a:lnSpc>
                <a:spcPts val="2940"/>
              </a:lnSpc>
            </a:pPr>
            <a:r>
              <a:rPr lang="en-US" sz="2100">
                <a:solidFill>
                  <a:srgbClr val="CD4146"/>
                </a:solidFill>
                <a:latin typeface="Poppins"/>
                <a:ea typeface="Poppins"/>
                <a:cs typeface="Poppins"/>
                <a:sym typeface="Poppins"/>
              </a:rPr>
              <a:t>- val (dinas dan non-dinas)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832688" y="1334186"/>
            <a:ext cx="7974813" cy="905743"/>
          </a:xfrm>
          <a:prstGeom prst="rect">
            <a:avLst/>
          </a:prstGeom>
        </p:spPr>
        <p:txBody>
          <a:bodyPr anchor="t" rtlCol="false" tIns="0" lIns="0" bIns="0" rIns="0">
            <a:spAutoFit/>
          </a:bodyPr>
          <a:lstStyle/>
          <a:p>
            <a:pPr algn="l" marL="0" indent="0" lvl="0">
              <a:lnSpc>
                <a:spcPts val="6750"/>
              </a:lnSpc>
            </a:pPr>
            <a:r>
              <a:rPr lang="en-US" sz="6818">
                <a:solidFill>
                  <a:srgbClr val="CD4146"/>
                </a:solidFill>
                <a:latin typeface="Oswald"/>
                <a:ea typeface="Oswald"/>
                <a:cs typeface="Oswald"/>
                <a:sym typeface="Oswald"/>
              </a:rPr>
              <a:t>Link Github</a:t>
            </a:r>
          </a:p>
        </p:txBody>
      </p:sp>
      <p:sp>
        <p:nvSpPr>
          <p:cNvPr name="TextBox 4" id="4"/>
          <p:cNvSpPr txBox="true"/>
          <p:nvPr/>
        </p:nvSpPr>
        <p:spPr>
          <a:xfrm rot="0">
            <a:off x="1832688" y="2506629"/>
            <a:ext cx="7261845" cy="746760"/>
          </a:xfrm>
          <a:prstGeom prst="rect">
            <a:avLst/>
          </a:prstGeom>
        </p:spPr>
        <p:txBody>
          <a:bodyPr anchor="t" rtlCol="false" tIns="0" lIns="0" bIns="0" rIns="0">
            <a:spAutoFit/>
          </a:bodyPr>
          <a:lstStyle/>
          <a:p>
            <a:pPr algn="just">
              <a:lnSpc>
                <a:spcPts val="2940"/>
              </a:lnSpc>
            </a:pPr>
            <a:r>
              <a:rPr lang="en-US" sz="2100" u="sng">
                <a:solidFill>
                  <a:srgbClr val="CD4146"/>
                </a:solidFill>
                <a:latin typeface="Poppins"/>
                <a:ea typeface="Poppins"/>
                <a:cs typeface="Poppins"/>
                <a:sym typeface="Poppins"/>
                <a:hlinkClick r:id="rId3" tooltip="https://github.com/akhmadCh/Machine-Learning-I/tree/main/Dataset%20License%20Plate"/>
              </a:rPr>
              <a:t>https://github.com/akhmadCh/Machine-Learning-I/tree/main/Dataset%20License%20Plate</a:t>
            </a:r>
          </a:p>
        </p:txBody>
      </p:sp>
      <p:sp>
        <p:nvSpPr>
          <p:cNvPr name="TextBox 5" id="5"/>
          <p:cNvSpPr txBox="true"/>
          <p:nvPr/>
        </p:nvSpPr>
        <p:spPr>
          <a:xfrm rot="0">
            <a:off x="8911286" y="1361572"/>
            <a:ext cx="7974813" cy="905743"/>
          </a:xfrm>
          <a:prstGeom prst="rect">
            <a:avLst/>
          </a:prstGeom>
        </p:spPr>
        <p:txBody>
          <a:bodyPr anchor="t" rtlCol="false" tIns="0" lIns="0" bIns="0" rIns="0">
            <a:spAutoFit/>
          </a:bodyPr>
          <a:lstStyle/>
          <a:p>
            <a:pPr algn="l" marL="0" indent="0" lvl="0">
              <a:lnSpc>
                <a:spcPts val="6750"/>
              </a:lnSpc>
            </a:pPr>
            <a:r>
              <a:rPr lang="en-US" sz="6818">
                <a:solidFill>
                  <a:srgbClr val="CD4146"/>
                </a:solidFill>
                <a:latin typeface="Oswald"/>
                <a:ea typeface="Oswald"/>
                <a:cs typeface="Oswald"/>
                <a:sym typeface="Oswald"/>
              </a:rPr>
              <a:t>Link Drive (Dataset)</a:t>
            </a:r>
          </a:p>
        </p:txBody>
      </p:sp>
      <p:sp>
        <p:nvSpPr>
          <p:cNvPr name="TextBox 6" id="6"/>
          <p:cNvSpPr txBox="true"/>
          <p:nvPr/>
        </p:nvSpPr>
        <p:spPr>
          <a:xfrm rot="0">
            <a:off x="8911286" y="2506629"/>
            <a:ext cx="7261845" cy="746760"/>
          </a:xfrm>
          <a:prstGeom prst="rect">
            <a:avLst/>
          </a:prstGeom>
        </p:spPr>
        <p:txBody>
          <a:bodyPr anchor="t" rtlCol="false" tIns="0" lIns="0" bIns="0" rIns="0">
            <a:spAutoFit/>
          </a:bodyPr>
          <a:lstStyle/>
          <a:p>
            <a:pPr algn="just">
              <a:lnSpc>
                <a:spcPts val="2940"/>
              </a:lnSpc>
            </a:pPr>
            <a:r>
              <a:rPr lang="en-US" sz="2100" u="sng">
                <a:solidFill>
                  <a:srgbClr val="CD4146"/>
                </a:solidFill>
                <a:latin typeface="Poppins"/>
                <a:ea typeface="Poppins"/>
                <a:cs typeface="Poppins"/>
                <a:sym typeface="Poppins"/>
              </a:rPr>
              <a:t>https://drive.google.com/drive/folders/1L65Kq3amn6Nzj1SEVEQtHjmAfY-vPzEu?usp=drive_link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22393" y="1713591"/>
            <a:ext cx="17243215" cy="8219772"/>
            <a:chOff x="0" y="0"/>
            <a:chExt cx="4541423" cy="2164878"/>
          </a:xfrm>
        </p:grpSpPr>
        <p:sp>
          <p:nvSpPr>
            <p:cNvPr name="Freeform 4" id="4"/>
            <p:cNvSpPr/>
            <p:nvPr/>
          </p:nvSpPr>
          <p:spPr>
            <a:xfrm flipH="false" flipV="false" rot="0">
              <a:off x="0" y="0"/>
              <a:ext cx="4541423" cy="2164878"/>
            </a:xfrm>
            <a:custGeom>
              <a:avLst/>
              <a:gdLst/>
              <a:ahLst/>
              <a:cxnLst/>
              <a:rect r="r" b="b" t="t" l="l"/>
              <a:pathLst>
                <a:path h="2164878" w="4541423">
                  <a:moveTo>
                    <a:pt x="15265" y="0"/>
                  </a:moveTo>
                  <a:lnTo>
                    <a:pt x="4526157" y="0"/>
                  </a:lnTo>
                  <a:cubicBezTo>
                    <a:pt x="4534588" y="0"/>
                    <a:pt x="4541423" y="6835"/>
                    <a:pt x="4541423" y="15265"/>
                  </a:cubicBezTo>
                  <a:lnTo>
                    <a:pt x="4541423" y="2149613"/>
                  </a:lnTo>
                  <a:cubicBezTo>
                    <a:pt x="4541423" y="2158044"/>
                    <a:pt x="4534588" y="2164878"/>
                    <a:pt x="4526157" y="2164878"/>
                  </a:cubicBezTo>
                  <a:lnTo>
                    <a:pt x="15265" y="2164878"/>
                  </a:lnTo>
                  <a:cubicBezTo>
                    <a:pt x="6835" y="2164878"/>
                    <a:pt x="0" y="2158044"/>
                    <a:pt x="0" y="2149613"/>
                  </a:cubicBezTo>
                  <a:lnTo>
                    <a:pt x="0" y="15265"/>
                  </a:lnTo>
                  <a:cubicBezTo>
                    <a:pt x="0" y="6835"/>
                    <a:pt x="6835" y="0"/>
                    <a:pt x="15265" y="0"/>
                  </a:cubicBezTo>
                  <a:close/>
                </a:path>
              </a:pathLst>
            </a:custGeom>
            <a:ln w="19050" cap="rnd">
              <a:solidFill>
                <a:srgbClr val="CD4146"/>
              </a:solidFill>
              <a:prstDash val="solid"/>
              <a:round/>
            </a:ln>
          </p:spPr>
        </p:sp>
        <p:sp>
          <p:nvSpPr>
            <p:cNvPr name="TextBox 5" id="5"/>
            <p:cNvSpPr txBox="true"/>
            <p:nvPr/>
          </p:nvSpPr>
          <p:spPr>
            <a:xfrm>
              <a:off x="0" y="-57150"/>
              <a:ext cx="4541423" cy="2222028"/>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1400602" y="3009697"/>
            <a:ext cx="699655" cy="69965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9588855" y="3009697"/>
            <a:ext cx="699655" cy="69965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3028471" y="211584"/>
            <a:ext cx="12231059" cy="1169841"/>
          </a:xfrm>
          <a:prstGeom prst="rect">
            <a:avLst/>
          </a:prstGeom>
        </p:spPr>
        <p:txBody>
          <a:bodyPr anchor="t" rtlCol="false" tIns="0" lIns="0" bIns="0" rIns="0">
            <a:spAutoFit/>
          </a:bodyPr>
          <a:lstStyle/>
          <a:p>
            <a:pPr algn="ctr" marL="0" indent="0" lvl="0">
              <a:lnSpc>
                <a:spcPts val="9545"/>
              </a:lnSpc>
              <a:spcBef>
                <a:spcPct val="0"/>
              </a:spcBef>
            </a:pPr>
            <a:r>
              <a:rPr lang="en-US" sz="6818">
                <a:solidFill>
                  <a:srgbClr val="CD4146"/>
                </a:solidFill>
                <a:latin typeface="Oswald"/>
                <a:ea typeface="Oswald"/>
                <a:cs typeface="Oswald"/>
                <a:sym typeface="Oswald"/>
              </a:rPr>
              <a:t>Referensi</a:t>
            </a:r>
          </a:p>
        </p:txBody>
      </p:sp>
      <p:sp>
        <p:nvSpPr>
          <p:cNvPr name="TextBox 13" id="13"/>
          <p:cNvSpPr txBox="true"/>
          <p:nvPr/>
        </p:nvSpPr>
        <p:spPr>
          <a:xfrm rot="0">
            <a:off x="2355400" y="2952547"/>
            <a:ext cx="6384045" cy="186118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Amirah dan A. Sanmorino, “First Step for Vehicle License Plate Identification Using Machine Learning Approach,” Journal of Computer Science Application and Engineering, vol. 1, no. 1, pp. 6–12, Jan. 2023.</a:t>
            </a:r>
          </a:p>
        </p:txBody>
      </p:sp>
      <p:sp>
        <p:nvSpPr>
          <p:cNvPr name="TextBox 14" id="14"/>
          <p:cNvSpPr txBox="true"/>
          <p:nvPr/>
        </p:nvSpPr>
        <p:spPr>
          <a:xfrm rot="0">
            <a:off x="1360302" y="3061557"/>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1</a:t>
            </a:r>
          </a:p>
        </p:txBody>
      </p:sp>
      <p:sp>
        <p:nvSpPr>
          <p:cNvPr name="TextBox 15" id="15"/>
          <p:cNvSpPr txBox="true"/>
          <p:nvPr/>
        </p:nvSpPr>
        <p:spPr>
          <a:xfrm rot="0">
            <a:off x="10543653" y="2952547"/>
            <a:ext cx="6384045" cy="111823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Park, Se-ho et al, “An All-in-One Vehicle Type and License Plate Recognition System Using YOLOv4”</a:t>
            </a:r>
          </a:p>
        </p:txBody>
      </p:sp>
      <p:sp>
        <p:nvSpPr>
          <p:cNvPr name="TextBox 16" id="16"/>
          <p:cNvSpPr txBox="true"/>
          <p:nvPr/>
        </p:nvSpPr>
        <p:spPr>
          <a:xfrm rot="0">
            <a:off x="9548556" y="3061557"/>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4</a:t>
            </a:r>
          </a:p>
        </p:txBody>
      </p:sp>
      <p:grpSp>
        <p:nvGrpSpPr>
          <p:cNvPr name="Group 17" id="17"/>
          <p:cNvGrpSpPr/>
          <p:nvPr/>
        </p:nvGrpSpPr>
        <p:grpSpPr>
          <a:xfrm rot="0">
            <a:off x="1440901" y="5261407"/>
            <a:ext cx="699655" cy="69965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grpSp>
        <p:nvGrpSpPr>
          <p:cNvPr name="Group 20" id="20"/>
          <p:cNvGrpSpPr/>
          <p:nvPr/>
        </p:nvGrpSpPr>
        <p:grpSpPr>
          <a:xfrm rot="0">
            <a:off x="9629155" y="5261407"/>
            <a:ext cx="699655" cy="69965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23" id="23"/>
          <p:cNvSpPr txBox="true"/>
          <p:nvPr/>
        </p:nvSpPr>
        <p:spPr>
          <a:xfrm rot="0">
            <a:off x="2395699" y="5204257"/>
            <a:ext cx="6384045" cy="1861185"/>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M. P. Kumar, K. Manivel, S. Ponlatha, dan N. Jayanthi, “Classification &amp; Detection of Vehicles using Deep Learning,” International Journal of Innovative Technology and Exploring Engineering, vol. 9, no. 7, pp. 181–183, May 2020.</a:t>
            </a:r>
          </a:p>
        </p:txBody>
      </p:sp>
      <p:sp>
        <p:nvSpPr>
          <p:cNvPr name="TextBox 24" id="24"/>
          <p:cNvSpPr txBox="true"/>
          <p:nvPr/>
        </p:nvSpPr>
        <p:spPr>
          <a:xfrm rot="0">
            <a:off x="1400602" y="5313267"/>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2</a:t>
            </a:r>
          </a:p>
        </p:txBody>
      </p:sp>
      <p:sp>
        <p:nvSpPr>
          <p:cNvPr name="TextBox 25" id="25"/>
          <p:cNvSpPr txBox="true"/>
          <p:nvPr/>
        </p:nvSpPr>
        <p:spPr>
          <a:xfrm rot="0">
            <a:off x="10583953" y="5204257"/>
            <a:ext cx="6384045" cy="1489710"/>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Al-batat, Reda et al, “An End-to-End Automated License Plate Recognition System Using YOLO Based Vehicle and License Plate Detection with Vehicle Classification”</a:t>
            </a:r>
          </a:p>
        </p:txBody>
      </p:sp>
      <p:sp>
        <p:nvSpPr>
          <p:cNvPr name="TextBox 26" id="26"/>
          <p:cNvSpPr txBox="true"/>
          <p:nvPr/>
        </p:nvSpPr>
        <p:spPr>
          <a:xfrm rot="0">
            <a:off x="9588855" y="5313267"/>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5</a:t>
            </a:r>
          </a:p>
        </p:txBody>
      </p:sp>
      <p:grpSp>
        <p:nvGrpSpPr>
          <p:cNvPr name="Group 27" id="27"/>
          <p:cNvGrpSpPr/>
          <p:nvPr/>
        </p:nvGrpSpPr>
        <p:grpSpPr>
          <a:xfrm rot="0">
            <a:off x="1481201" y="7454265"/>
            <a:ext cx="699655" cy="69965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p:spPr>
        </p:sp>
        <p:sp>
          <p:nvSpPr>
            <p:cNvPr name="TextBox 29" id="29"/>
            <p:cNvSpPr txBox="true"/>
            <p:nvPr/>
          </p:nvSpPr>
          <p:spPr>
            <a:xfrm>
              <a:off x="76200" y="19050"/>
              <a:ext cx="660400" cy="717550"/>
            </a:xfrm>
            <a:prstGeom prst="rect">
              <a:avLst/>
            </a:prstGeom>
          </p:spPr>
          <p:txBody>
            <a:bodyPr anchor="ctr" rtlCol="false" tIns="50800" lIns="50800" bIns="50800" rIns="50800"/>
            <a:lstStyle/>
            <a:p>
              <a:pPr algn="ctr">
                <a:lnSpc>
                  <a:spcPts val="2940"/>
                </a:lnSpc>
              </a:pPr>
            </a:p>
          </p:txBody>
        </p:sp>
      </p:grpSp>
      <p:sp>
        <p:nvSpPr>
          <p:cNvPr name="TextBox 30" id="30"/>
          <p:cNvSpPr txBox="true"/>
          <p:nvPr/>
        </p:nvSpPr>
        <p:spPr>
          <a:xfrm rot="0">
            <a:off x="2435999" y="7397115"/>
            <a:ext cx="6384045" cy="2232660"/>
          </a:xfrm>
          <a:prstGeom prst="rect">
            <a:avLst/>
          </a:prstGeom>
        </p:spPr>
        <p:txBody>
          <a:bodyPr anchor="t" rtlCol="false" tIns="0" lIns="0" bIns="0" rIns="0">
            <a:spAutoFit/>
          </a:bodyPr>
          <a:lstStyle/>
          <a:p>
            <a:pPr algn="just">
              <a:lnSpc>
                <a:spcPts val="2940"/>
              </a:lnSpc>
            </a:pPr>
            <a:r>
              <a:rPr lang="en-US" sz="2100">
                <a:solidFill>
                  <a:srgbClr val="CD4146"/>
                </a:solidFill>
                <a:latin typeface="Poppins"/>
                <a:ea typeface="Poppins"/>
                <a:cs typeface="Poppins"/>
                <a:sym typeface="Poppins"/>
              </a:rPr>
              <a:t>F. Martadinata, A. Firdaus, dan M. R. T. Amal, “Detection and Identification of Vehicle License Plates in Indonesia Transportation System Based on Deep Learning Using YOLOv11 and EasyOCR,” SISFOKOM Journal, vol. 14, no. 4, pp. 573–578, 2025.</a:t>
            </a:r>
          </a:p>
        </p:txBody>
      </p:sp>
      <p:sp>
        <p:nvSpPr>
          <p:cNvPr name="TextBox 31" id="31"/>
          <p:cNvSpPr txBox="true"/>
          <p:nvPr/>
        </p:nvSpPr>
        <p:spPr>
          <a:xfrm rot="0">
            <a:off x="1440901" y="7506125"/>
            <a:ext cx="780254" cy="510210"/>
          </a:xfrm>
          <a:prstGeom prst="rect">
            <a:avLst/>
          </a:prstGeom>
        </p:spPr>
        <p:txBody>
          <a:bodyPr anchor="t" rtlCol="false" tIns="0" lIns="0" bIns="0" rIns="0">
            <a:spAutoFit/>
          </a:bodyPr>
          <a:lstStyle/>
          <a:p>
            <a:pPr algn="ctr" marL="0" indent="0" lvl="0">
              <a:lnSpc>
                <a:spcPts val="3903"/>
              </a:lnSpc>
              <a:spcBef>
                <a:spcPct val="0"/>
              </a:spcBef>
            </a:pPr>
            <a:r>
              <a:rPr lang="en-US" b="true" sz="2787">
                <a:solidFill>
                  <a:srgbClr val="FFFFFF"/>
                </a:solidFill>
                <a:latin typeface="Poppins Bold"/>
                <a:ea typeface="Poppins Bold"/>
                <a:cs typeface="Poppins Bold"/>
                <a:sym typeface="Poppins Bold"/>
              </a:rPr>
              <a:t>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04117" y="8148954"/>
            <a:ext cx="6081308" cy="5992529"/>
          </a:xfrm>
          <a:custGeom>
            <a:avLst/>
            <a:gdLst/>
            <a:ahLst/>
            <a:cxnLst/>
            <a:rect r="r" b="b" t="t" l="l"/>
            <a:pathLst>
              <a:path h="5992529" w="6081308">
                <a:moveTo>
                  <a:pt x="0" y="0"/>
                </a:moveTo>
                <a:lnTo>
                  <a:pt x="6081308" y="0"/>
                </a:lnTo>
                <a:lnTo>
                  <a:pt x="6081308" y="5992529"/>
                </a:lnTo>
                <a:lnTo>
                  <a:pt x="0" y="59925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175491" y="3003203"/>
            <a:ext cx="9001576" cy="2438402"/>
          </a:xfrm>
          <a:prstGeom prst="rect">
            <a:avLst/>
          </a:prstGeom>
        </p:spPr>
        <p:txBody>
          <a:bodyPr anchor="t" rtlCol="false" tIns="0" lIns="0" bIns="0" rIns="0">
            <a:spAutoFit/>
          </a:bodyPr>
          <a:lstStyle/>
          <a:p>
            <a:pPr algn="l" marL="0" indent="0" lvl="0">
              <a:lnSpc>
                <a:spcPts val="19912"/>
              </a:lnSpc>
              <a:spcBef>
                <a:spcPct val="0"/>
              </a:spcBef>
            </a:pPr>
            <a:r>
              <a:rPr lang="en-US" sz="14223" strike="noStrike" u="none">
                <a:solidFill>
                  <a:srgbClr val="CD4146"/>
                </a:solidFill>
                <a:latin typeface="Oswald"/>
                <a:ea typeface="Oswald"/>
                <a:cs typeface="Oswald"/>
                <a:sym typeface="Oswald"/>
              </a:rPr>
              <a:t>Thank You</a:t>
            </a:r>
          </a:p>
        </p:txBody>
      </p:sp>
      <p:sp>
        <p:nvSpPr>
          <p:cNvPr name="Freeform 5" id="5"/>
          <p:cNvSpPr/>
          <p:nvPr/>
        </p:nvSpPr>
        <p:spPr>
          <a:xfrm flipH="false" flipV="false" rot="0">
            <a:off x="10165512" y="3279428"/>
            <a:ext cx="5690498" cy="4573091"/>
          </a:xfrm>
          <a:custGeom>
            <a:avLst/>
            <a:gdLst/>
            <a:ahLst/>
            <a:cxnLst/>
            <a:rect r="r" b="b" t="t" l="l"/>
            <a:pathLst>
              <a:path h="4573091" w="5690498">
                <a:moveTo>
                  <a:pt x="0" y="0"/>
                </a:moveTo>
                <a:lnTo>
                  <a:pt x="5690498" y="0"/>
                </a:lnTo>
                <a:lnTo>
                  <a:pt x="5690498" y="4573091"/>
                </a:lnTo>
                <a:lnTo>
                  <a:pt x="0" y="45730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526952" y="-4360440"/>
            <a:ext cx="6081308" cy="5992529"/>
          </a:xfrm>
          <a:custGeom>
            <a:avLst/>
            <a:gdLst/>
            <a:ahLst/>
            <a:cxnLst/>
            <a:rect r="r" b="b" t="t" l="l"/>
            <a:pathLst>
              <a:path h="5992529" w="6081308">
                <a:moveTo>
                  <a:pt x="0" y="0"/>
                </a:moveTo>
                <a:lnTo>
                  <a:pt x="6081308" y="0"/>
                </a:lnTo>
                <a:lnTo>
                  <a:pt x="6081308" y="5992530"/>
                </a:lnTo>
                <a:lnTo>
                  <a:pt x="0" y="59925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DAHDB956zH0</dc:identifier>
  <dcterms:modified xsi:type="dcterms:W3CDTF">2011-08-01T06:04:30Z</dcterms:modified>
  <cp:revision>1</cp:revision>
  <dc:title>ML 1. Tugas Preprocessing Data</dc:title>
</cp:coreProperties>
</file>